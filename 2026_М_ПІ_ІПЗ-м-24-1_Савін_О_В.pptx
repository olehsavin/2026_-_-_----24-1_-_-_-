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core0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officedocument/2006/relationships/metadata/core-properties" Target="docProps/core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2" r:id="rId7"/>
    <p:sldId id="263" r:id="rId8"/>
    <p:sldId id="264" r:id="rId9"/>
    <p:sldId id="265" r:id="rId10"/>
    <p:sldId id="267" r:id="rId11"/>
  </p:sldIdLst>
  <p:sldSz cx="9144000" cy="5143500" type="screen16x9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160" d="100"/>
          <a:sy n="160" d="100"/>
        </p:scale>
        <p:origin x="78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Test F1</c:v>
                </c:pt>
              </c:strCache>
            </c:strRef>
          </c:tx>
          <c:spPr>
            <a:solidFill>
              <a:srgbClr val="007E9B"/>
            </a:solidFill>
            <a:ln>
              <a:solidFill>
                <a:srgbClr val="007E9B"/>
              </a:solidFill>
            </a:ln>
          </c:spPr>
          <c:invertIfNegative val="1"/>
          <c:cat>
            <c:strRef>
              <c:f>Sheet1!$A$2:$A$7</c:f>
              <c:strCache>
                <c:ptCount val="6"/>
                <c:pt idx="0">
                  <c:v>LSTM
Small</c:v>
                </c:pt>
                <c:pt idx="1">
                  <c:v>LSTM
Base</c:v>
                </c:pt>
                <c:pt idx="2">
                  <c:v>BiLSTM</c:v>
                </c:pt>
                <c:pt idx="3">
                  <c:v>Distil
BERT</c:v>
                </c:pt>
                <c:pt idx="4">
                  <c:v>BERT</c:v>
                </c:pt>
                <c:pt idx="5">
                  <c:v>RoBERTa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0.89559999999999995</c:v>
                </c:pt>
                <c:pt idx="1">
                  <c:v>0.89659999999999995</c:v>
                </c:pt>
                <c:pt idx="2">
                  <c:v>0.90359999999999996</c:v>
                </c:pt>
                <c:pt idx="3">
                  <c:v>0.88590000000000002</c:v>
                </c:pt>
                <c:pt idx="4">
                  <c:v>0.752</c:v>
                </c:pt>
                <c:pt idx="5">
                  <c:v>0.3422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007E9B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A327-4BEF-B558-676FF82A4BA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Accuracy</c:v>
                </c:pt>
              </c:strCache>
            </c:strRef>
          </c:tx>
          <c:spPr>
            <a:solidFill>
              <a:srgbClr val="CE975F"/>
            </a:solidFill>
            <a:ln>
              <a:solidFill>
                <a:srgbClr val="CE975F"/>
              </a:solidFill>
            </a:ln>
          </c:spPr>
          <c:invertIfNegative val="1"/>
          <c:cat>
            <c:strRef>
              <c:f>Sheet1!$A$2:$A$7</c:f>
              <c:strCache>
                <c:ptCount val="6"/>
                <c:pt idx="0">
                  <c:v>LSTM
Small</c:v>
                </c:pt>
                <c:pt idx="1">
                  <c:v>LSTM
Base</c:v>
                </c:pt>
                <c:pt idx="2">
                  <c:v>BiLSTM</c:v>
                </c:pt>
                <c:pt idx="3">
                  <c:v>Distil
BERT</c:v>
                </c:pt>
                <c:pt idx="4">
                  <c:v>BERT</c:v>
                </c:pt>
                <c:pt idx="5">
                  <c:v>RoBERTa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0.88590000000000002</c:v>
                </c:pt>
                <c:pt idx="1">
                  <c:v>0.89670000000000005</c:v>
                </c:pt>
                <c:pt idx="2">
                  <c:v>0.90359999999999996</c:v>
                </c:pt>
                <c:pt idx="3">
                  <c:v>0.88549999999999995</c:v>
                </c:pt>
                <c:pt idx="4">
                  <c:v>0.75249999999999995</c:v>
                </c:pt>
                <c:pt idx="5">
                  <c:v>0.46450000000000002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CE975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A327-4BEF-B558-676FF82A4BA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  <a:endParaRPr lang="en-US"/>
          </a:p>
        </c:txPr>
        <c:crossAx val="-2068027336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oogle Shape;10;p2"/>
          <p:cNvSpPr/>
          <p:nvPr/>
        </p:nvSpPr>
        <p:spPr>
          <a:xfrm>
            <a:off x="2743920" y="756720"/>
            <a:ext cx="1081440" cy="1124640"/>
          </a:xfrm>
          <a:custGeom>
            <a:avLst/>
            <a:gdLst>
              <a:gd name="textAreaLeft" fmla="*/ 0 w 1081440"/>
              <a:gd name="textAreaRight" fmla="*/ 1081800 w 1081440"/>
              <a:gd name="textAreaTop" fmla="*/ 0 h 1124640"/>
              <a:gd name="textAreaBottom" fmla="*/ 1125000 h 1124640"/>
            </a:gdLst>
            <a:ahLst/>
            <a:cxnLst/>
            <a:rect l="textAreaLeft" t="textAreaTop" r="textAreaRight" b="textAreaBottom"/>
            <a:pathLst>
              <a:path w="43265" h="44998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>
            <a:solidFill>
              <a:srgbClr val="CCA677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Google Shape;11;p2"/>
          <p:cNvSpPr/>
          <p:nvPr/>
        </p:nvSpPr>
        <p:spPr>
          <a:xfrm rot="10800000">
            <a:off x="5318640" y="3267000"/>
            <a:ext cx="1081440" cy="1124640"/>
          </a:xfrm>
          <a:custGeom>
            <a:avLst/>
            <a:gdLst>
              <a:gd name="textAreaLeft" fmla="*/ 0 w 1081440"/>
              <a:gd name="textAreaRight" fmla="*/ 1081800 w 1081440"/>
              <a:gd name="textAreaTop" fmla="*/ 0 h 1124640"/>
              <a:gd name="textAreaBottom" fmla="*/ 1125000 h 1124640"/>
            </a:gdLst>
            <a:ahLst/>
            <a:cxnLst/>
            <a:rect l="textAreaLeft" t="textAreaTop" r="textAreaRight" b="textAreaBottom"/>
            <a:pathLst>
              <a:path w="43265" h="44998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>
            <a:solidFill>
              <a:srgbClr val="CCA677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3044880" y="1444320"/>
            <a:ext cx="3054240" cy="15368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 fontScale="85000" lnSpcReduction="19999"/>
          </a:bodyPr>
          <a:lstStyle/>
          <a:p>
            <a:pPr indent="0">
              <a:buNone/>
            </a:pPr>
            <a:r>
              <a:rPr lang="en-US" sz="4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uk" sz="1000" b="0" u="none" strike="noStrike">
                <a:solidFill>
                  <a:schemeClr val="dk1"/>
                </a:solidFill>
                <a:effectLst/>
                <a:uFillTx/>
                <a:latin typeface="Economica"/>
                <a:ea typeface="Economic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7DBFEC52-0BDA-4754-903B-F9E01C315D29}" type="slidenum">
              <a:rPr lang="uk" sz="1000" b="0" u="none" strike="noStrike">
                <a:solidFill>
                  <a:schemeClr val="dk1"/>
                </a:solidFill>
                <a:effectLst/>
                <a:uFillTx/>
                <a:latin typeface="Economica"/>
                <a:ea typeface="Economica"/>
              </a:rPr>
              <a:t>‹#›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IG_NUMBER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oogle Shape;52;p11"/>
          <p:cNvSpPr/>
          <p:nvPr/>
        </p:nvSpPr>
        <p:spPr>
          <a:xfrm>
            <a:off x="0" y="5045760"/>
            <a:ext cx="9143640" cy="9756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48960" bIns="4896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311760" y="957240"/>
            <a:ext cx="8520120" cy="21283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 fontScale="92500" lnSpcReduction="19999"/>
          </a:bodyPr>
          <a:lstStyle/>
          <a:p>
            <a:pPr indent="0" algn="ctr">
              <a:lnSpc>
                <a:spcPct val="100000"/>
              </a:lnSpc>
              <a:buNone/>
            </a:pPr>
            <a:r>
              <a:rPr lang="en-US" sz="16000" b="0" u="none" strike="noStrike">
                <a:solidFill>
                  <a:schemeClr val="lt2"/>
                </a:solidFill>
                <a:effectLst/>
                <a:uFillTx/>
                <a:latin typeface="Economica"/>
                <a:ea typeface="Economica"/>
              </a:rPr>
              <a:t>xx%</a:t>
            </a:r>
            <a:endParaRPr lang="en-US" sz="16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311760" y="3161880"/>
            <a:ext cx="8520120" cy="10713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 fontScale="3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8" name="PlaceHolder 3"/>
          <p:cNvSpPr>
            <a:spLocks noGrp="1"/>
          </p:cNvSpPr>
          <p:nvPr>
            <p:ph type="sldNum" idx="2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uk" sz="1000" b="0" u="none" strike="noStrike">
                <a:solidFill>
                  <a:schemeClr val="dk1"/>
                </a:solidFill>
                <a:effectLst/>
                <a:uFillTx/>
                <a:latin typeface="Economica"/>
                <a:ea typeface="Economic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F156FEE2-0C31-4C31-B90C-6944171DAEB9}" type="slidenum">
              <a:rPr lang="uk" sz="1000" b="0" u="none" strike="noStrike">
                <a:solidFill>
                  <a:schemeClr val="dk1"/>
                </a:solidFill>
                <a:effectLst/>
                <a:uFillTx/>
                <a:latin typeface="Economica"/>
                <a:ea typeface="Economica"/>
              </a:rPr>
              <a:t>‹#›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sldNum" idx="3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uk" sz="1000" b="0" u="none" strike="noStrike">
                <a:solidFill>
                  <a:schemeClr val="dk1"/>
                </a:solidFill>
                <a:effectLst/>
                <a:uFillTx/>
                <a:latin typeface="Economica"/>
                <a:ea typeface="Economic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4021F92C-BB9A-4A11-9870-2DDF7C18D1A2}" type="slidenum">
              <a:rPr lang="uk" sz="1000" b="0" u="none" strike="noStrike">
                <a:solidFill>
                  <a:schemeClr val="dk1"/>
                </a:solidFill>
                <a:effectLst/>
                <a:uFillTx/>
                <a:latin typeface="Economica"/>
                <a:ea typeface="Economica"/>
              </a:rPr>
              <a:t>‹#›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_HEADER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6;p3"/>
          <p:cNvSpPr/>
          <p:nvPr/>
        </p:nvSpPr>
        <p:spPr>
          <a:xfrm flipH="1">
            <a:off x="7596000" y="460080"/>
            <a:ext cx="1081440" cy="1124640"/>
          </a:xfrm>
          <a:custGeom>
            <a:avLst/>
            <a:gdLst>
              <a:gd name="textAreaLeft" fmla="*/ 360 w 1081440"/>
              <a:gd name="textAreaRight" fmla="*/ 1082160 w 1081440"/>
              <a:gd name="textAreaTop" fmla="*/ 0 h 1124640"/>
              <a:gd name="textAreaBottom" fmla="*/ 1125000 h 1124640"/>
            </a:gdLst>
            <a:ahLst/>
            <a:cxnLst/>
            <a:rect l="textAreaLeft" t="textAreaTop" r="textAreaRight" b="textAreaBottom"/>
            <a:pathLst>
              <a:path w="43265" h="44998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>
            <a:solidFill>
              <a:srgbClr val="CCA677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Google Shape;17;p3"/>
          <p:cNvSpPr/>
          <p:nvPr/>
        </p:nvSpPr>
        <p:spPr>
          <a:xfrm rot="10800000" flipH="1">
            <a:off x="466560" y="3558600"/>
            <a:ext cx="1081440" cy="1124640"/>
          </a:xfrm>
          <a:custGeom>
            <a:avLst/>
            <a:gdLst>
              <a:gd name="textAreaLeft" fmla="*/ 360 w 1081440"/>
              <a:gd name="textAreaRight" fmla="*/ 1082160 w 1081440"/>
              <a:gd name="textAreaTop" fmla="*/ 0 h 1124640"/>
              <a:gd name="textAreaBottom" fmla="*/ 1125000 h 1124640"/>
            </a:gdLst>
            <a:ahLst/>
            <a:cxnLst/>
            <a:rect l="textAreaLeft" t="textAreaTop" r="textAreaRight" b="textAreaBottom"/>
            <a:pathLst>
              <a:path w="43265" h="44998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>
            <a:solidFill>
              <a:srgbClr val="CCA677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773640" y="1806480"/>
            <a:ext cx="7596360" cy="15303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/>
          <a:p>
            <a:pPr indent="0">
              <a:buNone/>
            </a:pPr>
            <a:r>
              <a:rPr lang="en-US" sz="4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3" name="PlaceHolder 2"/>
          <p:cNvSpPr>
            <a:spLocks noGrp="1"/>
          </p:cNvSpPr>
          <p:nvPr>
            <p:ph type="sldNum" idx="4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uk" sz="1000" b="0" u="none" strike="noStrike">
                <a:solidFill>
                  <a:schemeClr val="dk1"/>
                </a:solidFill>
                <a:effectLst/>
                <a:uFillTx/>
                <a:latin typeface="Economica"/>
                <a:ea typeface="Economic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96406778-45E0-48BE-B3E6-87BD7C4213DF}" type="slidenum">
              <a:rPr lang="uk" sz="1000" b="0" u="none" strike="noStrike">
                <a:solidFill>
                  <a:schemeClr val="dk1"/>
                </a:solidFill>
                <a:effectLst/>
                <a:uFillTx/>
                <a:latin typeface="Economica"/>
                <a:ea typeface="Economica"/>
              </a:rPr>
              <a:t>‹#›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_AND_BODY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21;p4"/>
          <p:cNvSpPr/>
          <p:nvPr/>
        </p:nvSpPr>
        <p:spPr>
          <a:xfrm>
            <a:off x="0" y="5045760"/>
            <a:ext cx="9143640" cy="9756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48960" bIns="4896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311760" y="316080"/>
            <a:ext cx="8520120" cy="8308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/>
          <a:p>
            <a:pPr indent="0">
              <a:buNone/>
            </a:pPr>
            <a:r>
              <a:rPr lang="en-US" sz="4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311760" y="1225080"/>
            <a:ext cx="8520120" cy="33537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7" name="PlaceHolder 3"/>
          <p:cNvSpPr>
            <a:spLocks noGrp="1"/>
          </p:cNvSpPr>
          <p:nvPr>
            <p:ph type="sldNum" idx="5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uk" sz="1000" b="0" u="none" strike="noStrike">
                <a:solidFill>
                  <a:schemeClr val="dk1"/>
                </a:solidFill>
                <a:effectLst/>
                <a:uFillTx/>
                <a:latin typeface="Economica"/>
                <a:ea typeface="Economic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90404340-8B64-472D-85ED-5229A9FD4FE2}" type="slidenum">
              <a:rPr lang="uk" sz="1000" b="0" u="none" strike="noStrike">
                <a:solidFill>
                  <a:schemeClr val="dk1"/>
                </a:solidFill>
                <a:effectLst/>
                <a:uFillTx/>
                <a:latin typeface="Economica"/>
                <a:ea typeface="Economica"/>
              </a:rPr>
              <a:t>‹#›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_AND_TWO_COLUMNS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311760" y="316080"/>
            <a:ext cx="8520120" cy="8308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/>
          <a:p>
            <a:pPr indent="0">
              <a:buNone/>
            </a:pPr>
            <a:r>
              <a:rPr lang="en-US" sz="4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311760" y="1225080"/>
            <a:ext cx="3999600" cy="33537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0" name="PlaceHolder 3"/>
          <p:cNvSpPr>
            <a:spLocks noGrp="1"/>
          </p:cNvSpPr>
          <p:nvPr>
            <p:ph type="body"/>
          </p:nvPr>
        </p:nvSpPr>
        <p:spPr>
          <a:xfrm>
            <a:off x="4832280" y="1225080"/>
            <a:ext cx="3999600" cy="33537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1" name="PlaceHolder 4"/>
          <p:cNvSpPr>
            <a:spLocks noGrp="1"/>
          </p:cNvSpPr>
          <p:nvPr>
            <p:ph type="sldNum" idx="6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uk" sz="1000" b="0" u="none" strike="noStrike">
                <a:solidFill>
                  <a:schemeClr val="dk1"/>
                </a:solidFill>
                <a:effectLst/>
                <a:uFillTx/>
                <a:latin typeface="Economica"/>
                <a:ea typeface="Economic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3FC04902-7318-472C-9160-A22290337D2A}" type="slidenum">
              <a:rPr lang="uk" sz="1000" b="0" u="none" strike="noStrike">
                <a:solidFill>
                  <a:schemeClr val="dk1"/>
                </a:solidFill>
                <a:effectLst/>
                <a:uFillTx/>
                <a:latin typeface="Economica"/>
                <a:ea typeface="Economica"/>
              </a:rPr>
              <a:t>‹#›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_ONLY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311760" y="316080"/>
            <a:ext cx="8520120" cy="8308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/>
          <a:p>
            <a:pPr indent="0">
              <a:buNone/>
            </a:pPr>
            <a:r>
              <a:rPr lang="en-US" sz="4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23" name="PlaceHolder 2"/>
          <p:cNvSpPr>
            <a:spLocks noGrp="1"/>
          </p:cNvSpPr>
          <p:nvPr>
            <p:ph type="sldNum" idx="7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uk" sz="1000" b="0" u="none" strike="noStrike">
                <a:solidFill>
                  <a:schemeClr val="dk1"/>
                </a:solidFill>
                <a:effectLst/>
                <a:uFillTx/>
                <a:latin typeface="Economica"/>
                <a:ea typeface="Economic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9D34C0E5-924D-44A5-8DBB-1AE215992F73}" type="slidenum">
              <a:rPr lang="uk" sz="1000" b="0" u="none" strike="noStrike">
                <a:solidFill>
                  <a:schemeClr val="dk1"/>
                </a:solidFill>
                <a:effectLst/>
                <a:uFillTx/>
                <a:latin typeface="Economica"/>
                <a:ea typeface="Economica"/>
              </a:rPr>
              <a:t>‹#›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ONE_COLUMN_TEXT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311760" y="555480"/>
            <a:ext cx="2807640" cy="7552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 fontScale="77500" lnSpcReduction="19999"/>
          </a:bodyPr>
          <a:lstStyle/>
          <a:p>
            <a:pPr indent="0">
              <a:buNone/>
            </a:pPr>
            <a:r>
              <a:rPr lang="en-US" sz="3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25" name="PlaceHolder 2"/>
          <p:cNvSpPr>
            <a:spLocks noGrp="1"/>
          </p:cNvSpPr>
          <p:nvPr>
            <p:ph type="body"/>
          </p:nvPr>
        </p:nvSpPr>
        <p:spPr>
          <a:xfrm>
            <a:off x="311760" y="1399320"/>
            <a:ext cx="2807640" cy="27846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 fontScale="3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6" name="PlaceHolder 3"/>
          <p:cNvSpPr>
            <a:spLocks noGrp="1"/>
          </p:cNvSpPr>
          <p:nvPr>
            <p:ph type="sldNum" idx="8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uk" sz="1000" b="0" u="none" strike="noStrike">
                <a:solidFill>
                  <a:schemeClr val="dk1"/>
                </a:solidFill>
                <a:effectLst/>
                <a:uFillTx/>
                <a:latin typeface="Economica"/>
                <a:ea typeface="Economic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D9ABCE3B-02EA-4C36-B922-77CE1F16BC05}" type="slidenum">
              <a:rPr lang="uk" sz="1000" b="0" u="none" strike="noStrike">
                <a:solidFill>
                  <a:schemeClr val="dk1"/>
                </a:solidFill>
                <a:effectLst/>
                <a:uFillTx/>
                <a:latin typeface="Economica"/>
                <a:ea typeface="Economica"/>
              </a:rPr>
              <a:t>‹#›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MAIN_POINT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38;p8"/>
          <p:cNvSpPr/>
          <p:nvPr/>
        </p:nvSpPr>
        <p:spPr>
          <a:xfrm>
            <a:off x="0" y="5045760"/>
            <a:ext cx="9143640" cy="9756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48960" bIns="4896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90320" y="450000"/>
            <a:ext cx="5878440" cy="40903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/>
          <a:p>
            <a:pPr indent="0">
              <a:buNone/>
            </a:pPr>
            <a:r>
              <a:rPr lang="en-US" sz="4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29" name="PlaceHolder 2"/>
          <p:cNvSpPr>
            <a:spLocks noGrp="1"/>
          </p:cNvSpPr>
          <p:nvPr>
            <p:ph type="sldNum" idx="9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uk" sz="1000" b="0" u="none" strike="noStrike">
                <a:solidFill>
                  <a:schemeClr val="dk1"/>
                </a:solidFill>
                <a:effectLst/>
                <a:uFillTx/>
                <a:latin typeface="Economica"/>
                <a:ea typeface="Economic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BB588CD2-2EBE-4F33-B6CA-F15CC3DB9334}" type="slidenum">
              <a:rPr lang="uk" sz="1000" b="0" u="none" strike="noStrike">
                <a:solidFill>
                  <a:schemeClr val="dk1"/>
                </a:solidFill>
                <a:effectLst/>
                <a:uFillTx/>
                <a:latin typeface="Economica"/>
                <a:ea typeface="Economica"/>
              </a:rPr>
              <a:t>‹#›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_TITLE_AND_DESCRIPTION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42;p9"/>
          <p:cNvSpPr/>
          <p:nvPr/>
        </p:nvSpPr>
        <p:spPr>
          <a:xfrm>
            <a:off x="4572000" y="0"/>
            <a:ext cx="4571640" cy="514332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  <a:ea typeface="Arial"/>
            </a:endParaRPr>
          </a:p>
        </p:txBody>
      </p:sp>
      <p:cxnSp>
        <p:nvCxnSpPr>
          <p:cNvPr id="31" name="Google Shape;43;p9"/>
          <p:cNvCxnSpPr/>
          <p:nvPr/>
        </p:nvCxnSpPr>
        <p:spPr>
          <a:xfrm>
            <a:off x="5029560" y="4495320"/>
            <a:ext cx="468720" cy="360"/>
          </a:xfrm>
          <a:prstGeom prst="straightConnector1">
            <a:avLst/>
          </a:prstGeom>
          <a:ln w="19050">
            <a:solidFill>
              <a:srgbClr val="FFFFFF"/>
            </a:solidFill>
            <a:round/>
          </a:ln>
        </p:spPr>
      </p:cxnSp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265680" y="929160"/>
            <a:ext cx="4044960" cy="17859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/>
          <a:p>
            <a:pPr indent="0">
              <a:buNone/>
            </a:pPr>
            <a:r>
              <a:rPr lang="en-US" sz="4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939560" y="724320"/>
            <a:ext cx="3836520" cy="36946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 fontScale="85000" lnSpcReduction="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34" name="PlaceHolder 3"/>
          <p:cNvSpPr>
            <a:spLocks noGrp="1"/>
          </p:cNvSpPr>
          <p:nvPr>
            <p:ph type="sldNum" idx="10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uk" sz="1000" b="0" u="none" strike="noStrike">
                <a:solidFill>
                  <a:schemeClr val="lt1"/>
                </a:solidFill>
                <a:effectLst/>
                <a:uFillTx/>
                <a:latin typeface="Economica"/>
                <a:ea typeface="Economic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A096F841-93AF-4525-85F8-7D08D27F5BD8}" type="slidenum">
              <a:rPr lang="uk" sz="1000" b="0" u="none" strike="noStrike">
                <a:solidFill>
                  <a:schemeClr val="lt1"/>
                </a:solidFill>
                <a:effectLst/>
                <a:uFillTx/>
                <a:latin typeface="Economica"/>
                <a:ea typeface="Economica"/>
              </a:rPr>
              <a:t>‹#›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APTION_ONLY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body"/>
          </p:nvPr>
        </p:nvSpPr>
        <p:spPr>
          <a:xfrm>
            <a:off x="319680" y="4218840"/>
            <a:ext cx="5998320" cy="5983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 fontScale="25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36" name="PlaceHolder 2"/>
          <p:cNvSpPr>
            <a:spLocks noGrp="1"/>
          </p:cNvSpPr>
          <p:nvPr>
            <p:ph type="sldNum" idx="11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uk" sz="1000" b="0" u="none" strike="noStrike">
                <a:solidFill>
                  <a:schemeClr val="dk1"/>
                </a:solidFill>
                <a:effectLst/>
                <a:uFillTx/>
                <a:latin typeface="Economica"/>
                <a:ea typeface="Economic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8876F035-A353-47F8-9761-178C36C435D3}" type="slidenum">
              <a:rPr lang="uk" sz="1000" b="0" u="none" strike="noStrike">
                <a:solidFill>
                  <a:schemeClr val="dk1"/>
                </a:solidFill>
                <a:effectLst/>
                <a:uFillTx/>
                <a:latin typeface="Economica"/>
                <a:ea typeface="Economica"/>
              </a:rPr>
              <a:t>‹#›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Google Shape;64;p13"/>
          <p:cNvPicPr/>
          <p:nvPr/>
        </p:nvPicPr>
        <p:blipFill>
          <a:blip r:embed="rId2"/>
          <a:stretch/>
        </p:blipFill>
        <p:spPr>
          <a:xfrm>
            <a:off x="268920" y="4359600"/>
            <a:ext cx="861840" cy="5814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0" name="Google Shape;65;p13"/>
          <p:cNvPicPr/>
          <p:nvPr/>
        </p:nvPicPr>
        <p:blipFill>
          <a:blip r:embed="rId3"/>
          <a:stretch/>
        </p:blipFill>
        <p:spPr>
          <a:xfrm>
            <a:off x="204840" y="171000"/>
            <a:ext cx="2133720" cy="389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1" name="Google Shape;66;p13"/>
          <p:cNvPicPr/>
          <p:nvPr/>
        </p:nvPicPr>
        <p:blipFill>
          <a:blip r:embed="rId4"/>
          <a:stretch/>
        </p:blipFill>
        <p:spPr>
          <a:xfrm>
            <a:off x="7068600" y="171000"/>
            <a:ext cx="1924560" cy="438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2" name="TextBox 41"/>
          <p:cNvSpPr txBox="1"/>
          <p:nvPr/>
        </p:nvSpPr>
        <p:spPr>
          <a:xfrm>
            <a:off x="2880360" y="868680"/>
            <a:ext cx="5303520" cy="245118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500" b="0" dirty="0" err="1">
                <a:solidFill>
                  <a:srgbClr val="000000"/>
                </a:solidFill>
                <a:latin typeface="Arial"/>
              </a:rPr>
              <a:t>Дослідження</a:t>
            </a:r>
            <a:r>
              <a:rPr sz="2500" b="0" dirty="0">
                <a:solidFill>
                  <a:srgbClr val="000000"/>
                </a:solidFill>
                <a:latin typeface="Arial"/>
              </a:rPr>
              <a:t> </a:t>
            </a:r>
            <a:r>
              <a:rPr sz="2500" b="0" dirty="0" err="1">
                <a:solidFill>
                  <a:srgbClr val="000000"/>
                </a:solidFill>
                <a:latin typeface="Arial"/>
              </a:rPr>
              <a:t>методів</a:t>
            </a:r>
            <a:endParaRPr sz="2500" b="0" dirty="0">
              <a:solidFill>
                <a:srgbClr val="000000"/>
              </a:solidFill>
              <a:latin typeface="Arial"/>
            </a:endParaRPr>
          </a:p>
          <a:p>
            <a:pPr algn="l">
              <a:lnSpc>
                <a:spcPct val="105000"/>
              </a:lnSpc>
            </a:pPr>
            <a:r>
              <a:rPr sz="2500" b="0" dirty="0" err="1">
                <a:solidFill>
                  <a:srgbClr val="000000"/>
                </a:solidFill>
                <a:latin typeface="Arial"/>
              </a:rPr>
              <a:t>семантичного</a:t>
            </a:r>
            <a:r>
              <a:rPr sz="2500" b="0" dirty="0">
                <a:solidFill>
                  <a:srgbClr val="000000"/>
                </a:solidFill>
                <a:latin typeface="Arial"/>
              </a:rPr>
              <a:t> </a:t>
            </a:r>
            <a:r>
              <a:rPr sz="2500" b="0" dirty="0" err="1">
                <a:solidFill>
                  <a:srgbClr val="000000"/>
                </a:solidFill>
                <a:latin typeface="Arial"/>
              </a:rPr>
              <a:t>аналізу</a:t>
            </a:r>
            <a:r>
              <a:rPr sz="2500" b="0" dirty="0">
                <a:solidFill>
                  <a:srgbClr val="000000"/>
                </a:solidFill>
                <a:latin typeface="Arial"/>
              </a:rPr>
              <a:t> </a:t>
            </a:r>
            <a:r>
              <a:rPr sz="2500" b="0" dirty="0" err="1">
                <a:solidFill>
                  <a:srgbClr val="000000"/>
                </a:solidFill>
                <a:latin typeface="Arial"/>
              </a:rPr>
              <a:t>тексту</a:t>
            </a:r>
            <a:r>
              <a:rPr sz="2500" b="0" dirty="0">
                <a:solidFill>
                  <a:srgbClr val="000000"/>
                </a:solidFill>
                <a:latin typeface="Arial"/>
              </a:rPr>
              <a:t>:</a:t>
            </a:r>
          </a:p>
          <a:p>
            <a:pPr algn="l">
              <a:lnSpc>
                <a:spcPct val="105000"/>
              </a:lnSpc>
            </a:pPr>
            <a:r>
              <a:rPr sz="2500" b="0" dirty="0" err="1">
                <a:solidFill>
                  <a:srgbClr val="000000"/>
                </a:solidFill>
                <a:latin typeface="Arial"/>
              </a:rPr>
              <a:t>порівняльний</a:t>
            </a:r>
            <a:r>
              <a:rPr sz="2500" b="0" dirty="0">
                <a:solidFill>
                  <a:srgbClr val="000000"/>
                </a:solidFill>
                <a:latin typeface="Arial"/>
              </a:rPr>
              <a:t> </a:t>
            </a:r>
            <a:r>
              <a:rPr sz="2500" b="0" dirty="0" err="1">
                <a:solidFill>
                  <a:srgbClr val="000000"/>
                </a:solidFill>
                <a:latin typeface="Arial"/>
              </a:rPr>
              <a:t>аналіз</a:t>
            </a:r>
            <a:r>
              <a:rPr sz="2500" b="0" dirty="0">
                <a:solidFill>
                  <a:srgbClr val="000000"/>
                </a:solidFill>
                <a:latin typeface="Arial"/>
              </a:rPr>
              <a:t> </a:t>
            </a:r>
            <a:r>
              <a:rPr sz="2500" b="0" dirty="0" err="1">
                <a:solidFill>
                  <a:srgbClr val="000000"/>
                </a:solidFill>
                <a:latin typeface="Arial"/>
              </a:rPr>
              <a:t>моделей</a:t>
            </a:r>
            <a:endParaRPr sz="2500" b="0" dirty="0">
              <a:solidFill>
                <a:srgbClr val="000000"/>
              </a:solidFill>
              <a:latin typeface="Arial"/>
            </a:endParaRPr>
          </a:p>
          <a:p>
            <a:pPr algn="l">
              <a:lnSpc>
                <a:spcPct val="105000"/>
              </a:lnSpc>
            </a:pPr>
            <a:r>
              <a:rPr sz="2500" b="0" dirty="0">
                <a:solidFill>
                  <a:srgbClr val="000000"/>
                </a:solidFill>
                <a:latin typeface="Arial"/>
              </a:rPr>
              <a:t>LSTM </a:t>
            </a:r>
            <a:r>
              <a:rPr sz="2500" b="0" dirty="0" err="1">
                <a:solidFill>
                  <a:srgbClr val="000000"/>
                </a:solidFill>
                <a:latin typeface="Arial"/>
              </a:rPr>
              <a:t>та</a:t>
            </a:r>
            <a:r>
              <a:rPr sz="2500" b="0" dirty="0">
                <a:solidFill>
                  <a:srgbClr val="000000"/>
                </a:solidFill>
                <a:latin typeface="Arial"/>
              </a:rPr>
              <a:t> </a:t>
            </a:r>
            <a:r>
              <a:rPr sz="2500" b="0" dirty="0" err="1">
                <a:solidFill>
                  <a:srgbClr val="000000"/>
                </a:solidFill>
                <a:latin typeface="Arial"/>
              </a:rPr>
              <a:t>трансформерів</a:t>
            </a:r>
            <a:r>
              <a:rPr lang="uk-UA" sz="2500" b="0" dirty="0">
                <a:solidFill>
                  <a:srgbClr val="000000"/>
                </a:solidFill>
                <a:latin typeface="Arial"/>
              </a:rPr>
              <a:t> для підвищення точності класифікації текстів</a:t>
            </a:r>
            <a:endParaRPr sz="2500" b="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2277508" y="3644858"/>
            <a:ext cx="5165109" cy="1218795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uk-UA" sz="1800" b="0" noProof="1">
                <a:solidFill>
                  <a:srgbClr val="000000"/>
                </a:solidFill>
                <a:latin typeface="Arial"/>
              </a:rPr>
              <a:t>Савін Олег Валентинович, ІПЗм-24-1</a:t>
            </a:r>
          </a:p>
          <a:p>
            <a:pPr>
              <a:lnSpc>
                <a:spcPct val="105000"/>
              </a:lnSpc>
            </a:pPr>
            <a:r>
              <a:rPr lang="uk-UA" sz="1800" b="0" noProof="1">
                <a:solidFill>
                  <a:srgbClr val="000000"/>
                </a:solidFill>
                <a:latin typeface="Arial"/>
              </a:rPr>
              <a:t>Науковий керівник: </a:t>
            </a:r>
            <a:r>
              <a:rPr lang="uk-UA" noProof="1">
                <a:solidFill>
                  <a:srgbClr val="000000"/>
                </a:solidFill>
                <a:latin typeface="Arial"/>
              </a:rPr>
              <a:t>доц</a:t>
            </a:r>
            <a:r>
              <a:rPr lang="uk-UA" sz="1800" b="0" noProof="1">
                <a:solidFill>
                  <a:srgbClr val="000000"/>
                </a:solidFill>
                <a:latin typeface="Arial"/>
              </a:rPr>
              <a:t>. каф. ПІ</a:t>
            </a:r>
          </a:p>
          <a:p>
            <a:pPr>
              <a:lnSpc>
                <a:spcPct val="105000"/>
              </a:lnSpc>
            </a:pPr>
            <a:r>
              <a:rPr lang="uk-UA"/>
              <a:t>Афанасьєва </a:t>
            </a:r>
            <a:r>
              <a:rPr lang="uk-UA" dirty="0"/>
              <a:t>І.В.</a:t>
            </a:r>
          </a:p>
          <a:p>
            <a:pPr>
              <a:lnSpc>
                <a:spcPct val="105000"/>
              </a:lnSpc>
            </a:pPr>
            <a:r>
              <a:rPr lang="uk-UA" sz="1800" b="0" noProof="1">
                <a:solidFill>
                  <a:srgbClr val="000000"/>
                </a:solidFill>
                <a:latin typeface="Arial"/>
              </a:rPr>
              <a:t>2026 р.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>
            <a:off x="384048" y="274320"/>
            <a:ext cx="8412480" cy="6858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 fontScale="90000"/>
          </a:bodyPr>
          <a:lstStyle/>
          <a:p>
            <a:pPr algn="l"/>
            <a:r>
              <a:rPr sz="3800" dirty="0" err="1">
                <a:solidFill>
                  <a:srgbClr val="000000"/>
                </a:solidFill>
                <a:latin typeface="Arial"/>
              </a:rPr>
              <a:t>Дослідження</a:t>
            </a:r>
            <a:endParaRPr sz="3800" dirty="0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4" name="Google Shape;73;p14"/>
          <p:cNvPicPr/>
          <p:nvPr/>
        </p:nvPicPr>
        <p:blipFill>
          <a:blip r:embed="rId2"/>
          <a:stretch/>
        </p:blipFill>
        <p:spPr>
          <a:xfrm>
            <a:off x="268920" y="4359600"/>
            <a:ext cx="861840" cy="581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" name="TextBox 44"/>
          <p:cNvSpPr txBox="1"/>
          <p:nvPr/>
        </p:nvSpPr>
        <p:spPr>
          <a:xfrm>
            <a:off x="8732520" y="4617720"/>
            <a:ext cx="292608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300">
                <a:solidFill>
                  <a:srgbClr val="000000"/>
                </a:solidFill>
                <a:latin typeface="Arial"/>
              </a:rPr>
              <a:t>2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02920" y="1143000"/>
            <a:ext cx="2743554" cy="1417320"/>
          </a:xfrm>
          <a:prstGeom prst="roundRect">
            <a:avLst/>
          </a:prstGeom>
          <a:solidFill>
            <a:srgbClr val="F5E7D8"/>
          </a:solidFill>
          <a:ln w="15240">
            <a:solidFill>
              <a:srgbClr val="CE97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8872" tIns="73152" bIns="54864" rtlCol="0" anchor="ctr"/>
          <a:lstStyle/>
          <a:p>
            <a:pPr algn="ctr"/>
            <a:r>
              <a:rPr lang="uk-UA" sz="1600" b="1" noProof="1">
                <a:solidFill>
                  <a:srgbClr val="005D78"/>
                </a:solidFill>
                <a:latin typeface="Arial"/>
              </a:rPr>
              <a:t>Актуальність</a:t>
            </a:r>
          </a:p>
          <a:p>
            <a:pPr algn="ctr">
              <a:lnSpc>
                <a:spcPct val="105000"/>
              </a:lnSpc>
            </a:pPr>
            <a:r>
              <a:rPr lang="uk-UA" sz="1400" noProof="1">
                <a:solidFill>
                  <a:srgbClr val="000000"/>
                </a:solidFill>
                <a:latin typeface="Arial"/>
              </a:rPr>
              <a:t>Семантичний аналіз потрібний для пошуку, аналітики, класифікації новин, модерації та автоматизованих рішень.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337560" y="1143000"/>
            <a:ext cx="2743554" cy="1417320"/>
          </a:xfrm>
          <a:prstGeom prst="roundRect">
            <a:avLst/>
          </a:prstGeom>
          <a:solidFill>
            <a:srgbClr val="F5F7F9"/>
          </a:solidFill>
          <a:ln w="15240">
            <a:solidFill>
              <a:srgbClr val="CE97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8872" tIns="73152" bIns="54864" rtlCol="0" anchor="ctr"/>
          <a:lstStyle/>
          <a:p>
            <a:pPr algn="ctr"/>
            <a:r>
              <a:rPr lang="en-US" sz="1600" b="1" noProof="1">
                <a:solidFill>
                  <a:srgbClr val="005D78"/>
                </a:solidFill>
                <a:latin typeface="Arial"/>
              </a:rPr>
              <a:t>Проблема</a:t>
            </a:r>
          </a:p>
          <a:p>
            <a:pPr algn="ctr">
              <a:lnSpc>
                <a:spcPct val="105000"/>
              </a:lnSpc>
            </a:pPr>
            <a:r>
              <a:rPr lang="en-US" sz="1400" noProof="1">
                <a:solidFill>
                  <a:srgbClr val="000000"/>
                </a:solidFill>
                <a:latin typeface="Arial"/>
              </a:rPr>
              <a:t>LSTM та трансформери дають різний баланс між якістю, швидкістю, пам’яттю та складністю навчання.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172200" y="1143000"/>
            <a:ext cx="2743554" cy="1417320"/>
          </a:xfrm>
          <a:prstGeom prst="roundRect">
            <a:avLst/>
          </a:prstGeom>
          <a:solidFill>
            <a:srgbClr val="F5E7D8"/>
          </a:solidFill>
          <a:ln w="15240">
            <a:solidFill>
              <a:srgbClr val="CE97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8872" tIns="73152" bIns="54864" rtlCol="0" anchor="ctr"/>
          <a:lstStyle/>
          <a:p>
            <a:pPr algn="ctr"/>
            <a:r>
              <a:rPr lang="uk-UA" sz="1600" b="1" noProof="1">
                <a:solidFill>
                  <a:srgbClr val="005D78"/>
                </a:solidFill>
                <a:latin typeface="Arial"/>
              </a:rPr>
              <a:t>Мета</a:t>
            </a:r>
          </a:p>
          <a:p>
            <a:pPr algn="ctr">
              <a:lnSpc>
                <a:spcPct val="105000"/>
              </a:lnSpc>
            </a:pPr>
            <a:r>
              <a:rPr lang="uk-UA" sz="1400" noProof="1">
                <a:solidFill>
                  <a:srgbClr val="000000"/>
                </a:solidFill>
                <a:latin typeface="Arial"/>
              </a:rPr>
              <a:t>Порівняти шість моделей за єдиним протоколом і сформувати рекомендації щодо вибору архітектури.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94359" y="3017520"/>
            <a:ext cx="3956376" cy="413252"/>
          </a:xfrm>
          <a:prstGeom prst="roundRect">
            <a:avLst/>
          </a:prstGeom>
          <a:solidFill>
            <a:srgbClr val="007E9B"/>
          </a:solidFill>
          <a:ln>
            <a:solidFill>
              <a:srgbClr val="007E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uk-UA" sz="1300" b="1" noProof="1">
                <a:solidFill>
                  <a:srgbClr val="FFFFFF"/>
                </a:solidFill>
                <a:latin typeface="Arial"/>
              </a:rPr>
              <a:t>Об’єкт – процес семантичної класифікації тексту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94360" y="3566160"/>
            <a:ext cx="6858000" cy="365760"/>
          </a:xfrm>
          <a:prstGeom prst="roundRect">
            <a:avLst/>
          </a:prstGeom>
          <a:solidFill>
            <a:srgbClr val="CE975F"/>
          </a:solidFill>
          <a:ln>
            <a:solidFill>
              <a:srgbClr val="CE97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Предмет – LSTM-Small, LSTM-Base, BiLSTM-Base, DistilBERT, BERT, RoBERTa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384048" y="274320"/>
            <a:ext cx="8412480" cy="6858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/>
          <a:p>
            <a:pPr algn="l"/>
            <a:r>
              <a:rPr sz="2800">
                <a:solidFill>
                  <a:srgbClr val="000000"/>
                </a:solidFill>
                <a:latin typeface="Arial"/>
              </a:rPr>
              <a:t>Огляд літератури та підходів</a:t>
            </a:r>
          </a:p>
        </p:txBody>
      </p:sp>
      <p:pic>
        <p:nvPicPr>
          <p:cNvPr id="48" name="Google Shape;80;p15"/>
          <p:cNvPicPr/>
          <p:nvPr/>
        </p:nvPicPr>
        <p:blipFill>
          <a:blip r:embed="rId2"/>
          <a:stretch/>
        </p:blipFill>
        <p:spPr>
          <a:xfrm>
            <a:off x="268920" y="4359600"/>
            <a:ext cx="861840" cy="581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" name="TextBox 48"/>
          <p:cNvSpPr txBox="1"/>
          <p:nvPr/>
        </p:nvSpPr>
        <p:spPr>
          <a:xfrm>
            <a:off x="8732520" y="4617720"/>
            <a:ext cx="292608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300">
                <a:solidFill>
                  <a:srgbClr val="000000"/>
                </a:solidFill>
                <a:latin typeface="Arial"/>
              </a:rPr>
              <a:t>3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48640" y="1143000"/>
            <a:ext cx="2468880" cy="1828800"/>
          </a:xfrm>
          <a:prstGeom prst="roundRect">
            <a:avLst/>
          </a:prstGeom>
          <a:solidFill>
            <a:srgbClr val="F5F7F9"/>
          </a:solidFill>
          <a:ln w="15240">
            <a:solidFill>
              <a:srgbClr val="CE97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8872" tIns="73152" bIns="54864" rtlCol="0" anchor="ctr"/>
          <a:lstStyle/>
          <a:p>
            <a:pPr algn="ctr"/>
            <a:r>
              <a:rPr lang="uk-UA" sz="1600" b="1" noProof="1">
                <a:solidFill>
                  <a:srgbClr val="005D78"/>
                </a:solidFill>
                <a:latin typeface="Arial"/>
              </a:rPr>
              <a:t>LSTM / BiLSTM</a:t>
            </a:r>
          </a:p>
          <a:p>
            <a:pPr>
              <a:lnSpc>
                <a:spcPct val="105000"/>
              </a:lnSpc>
            </a:pPr>
            <a:r>
              <a:rPr lang="uk-UA" sz="1400" noProof="1">
                <a:solidFill>
                  <a:srgbClr val="000000"/>
                </a:solidFill>
                <a:latin typeface="Arial"/>
              </a:rPr>
              <a:t>Гейти пам’яті зберігають релевантний контекст і зменшують проблему затухання градієнта. BiLSTM враховує контекст у двох напрямах.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337560" y="1143000"/>
            <a:ext cx="2468880" cy="1828800"/>
          </a:xfrm>
          <a:prstGeom prst="roundRect">
            <a:avLst/>
          </a:prstGeom>
          <a:solidFill>
            <a:srgbClr val="F5E7D8"/>
          </a:solidFill>
          <a:ln w="15240">
            <a:solidFill>
              <a:srgbClr val="CE97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8872" tIns="73152" bIns="54864" rtlCol="0" anchor="ctr"/>
          <a:lstStyle/>
          <a:p>
            <a:pPr algn="ctr"/>
            <a:r>
              <a:rPr lang="uk-UA" sz="1600" b="1" noProof="1">
                <a:solidFill>
                  <a:srgbClr val="005D78"/>
                </a:solidFill>
                <a:latin typeface="Arial"/>
              </a:rPr>
              <a:t>Трансформери</a:t>
            </a:r>
          </a:p>
          <a:p>
            <a:pPr>
              <a:lnSpc>
                <a:spcPct val="105000"/>
              </a:lnSpc>
            </a:pPr>
            <a:r>
              <a:rPr lang="uk-UA" sz="1400" noProof="1">
                <a:solidFill>
                  <a:srgbClr val="000000"/>
                </a:solidFill>
                <a:latin typeface="Arial"/>
              </a:rPr>
              <a:t>Self-attention моделює зв’язки між усіма токенами одночасно. Перевага – глобальний контекст і паралельне навчання.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126480" y="1143000"/>
            <a:ext cx="2468880" cy="1828800"/>
          </a:xfrm>
          <a:prstGeom prst="roundRect">
            <a:avLst/>
          </a:prstGeom>
          <a:solidFill>
            <a:srgbClr val="F5F7F9"/>
          </a:solidFill>
          <a:ln w="15240">
            <a:solidFill>
              <a:srgbClr val="CE97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8872" tIns="73152" bIns="54864" rtlCol="0" anchor="ctr"/>
          <a:lstStyle/>
          <a:p>
            <a:pPr algn="ctr"/>
            <a:r>
              <a:rPr lang="uk-UA" sz="1600" b="1" noProof="1">
                <a:solidFill>
                  <a:srgbClr val="005D78"/>
                </a:solidFill>
                <a:latin typeface="Arial"/>
              </a:rPr>
              <a:t>Python-екосистема</a:t>
            </a:r>
          </a:p>
          <a:p>
            <a:pPr>
              <a:lnSpc>
                <a:spcPct val="105000"/>
              </a:lnSpc>
            </a:pPr>
            <a:r>
              <a:rPr lang="uk-UA" sz="1400" noProof="1">
                <a:solidFill>
                  <a:srgbClr val="000000"/>
                </a:solidFill>
                <a:latin typeface="Arial"/>
              </a:rPr>
              <a:t>spaCy, NLTK, Gensim, Hugging Face Transformers, AllenNLP та fastText дають готові інструменти для NLP-досліджень.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1783080" y="3200400"/>
            <a:ext cx="2743200" cy="0"/>
          </a:xfrm>
          <a:prstGeom prst="line">
            <a:avLst/>
          </a:prstGeom>
          <a:ln w="17780">
            <a:solidFill>
              <a:srgbClr val="CE97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4526280" y="3200400"/>
            <a:ext cx="2743200" cy="0"/>
          </a:xfrm>
          <a:prstGeom prst="line">
            <a:avLst/>
          </a:prstGeom>
          <a:ln w="17780">
            <a:solidFill>
              <a:srgbClr val="CE97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ounded Rectangle 54"/>
          <p:cNvSpPr/>
          <p:nvPr/>
        </p:nvSpPr>
        <p:spPr>
          <a:xfrm>
            <a:off x="658368" y="3520440"/>
            <a:ext cx="1353312" cy="329184"/>
          </a:xfrm>
          <a:prstGeom prst="roundRect">
            <a:avLst/>
          </a:prstGeom>
          <a:solidFill>
            <a:srgbClr val="007E9B"/>
          </a:solidFill>
          <a:ln>
            <a:solidFill>
              <a:srgbClr val="007E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uk-UA" sz="1300" b="1" noProof="1">
                <a:solidFill>
                  <a:srgbClr val="FFFFFF"/>
                </a:solidFill>
                <a:latin typeface="Arial"/>
              </a:rPr>
              <a:t>векторизація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2240280" y="3520440"/>
            <a:ext cx="1234440" cy="329184"/>
          </a:xfrm>
          <a:prstGeom prst="roundRect">
            <a:avLst/>
          </a:prstGeom>
          <a:solidFill>
            <a:srgbClr val="007E9B"/>
          </a:solidFill>
          <a:ln>
            <a:solidFill>
              <a:srgbClr val="007E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токенізація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3703320" y="3520440"/>
            <a:ext cx="1234440" cy="329184"/>
          </a:xfrm>
          <a:prstGeom prst="roundRect">
            <a:avLst/>
          </a:prstGeom>
          <a:solidFill>
            <a:srgbClr val="007E9B"/>
          </a:solidFill>
          <a:ln>
            <a:solidFill>
              <a:srgbClr val="007E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навчання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166360" y="3520440"/>
            <a:ext cx="1234440" cy="329184"/>
          </a:xfrm>
          <a:prstGeom prst="roundRect">
            <a:avLst/>
          </a:prstGeom>
          <a:solidFill>
            <a:srgbClr val="007E9B"/>
          </a:solidFill>
          <a:ln>
            <a:solidFill>
              <a:srgbClr val="007E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оцінювання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629400" y="3520440"/>
            <a:ext cx="1325880" cy="329184"/>
          </a:xfrm>
          <a:prstGeom prst="roundRect">
            <a:avLst/>
          </a:prstGeom>
          <a:solidFill>
            <a:srgbClr val="007E9B"/>
          </a:solidFill>
          <a:ln>
            <a:solidFill>
              <a:srgbClr val="007E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рекомендації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384048" y="274320"/>
            <a:ext cx="8412480" cy="6858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/>
          <a:p>
            <a:pPr algn="l"/>
            <a:r>
              <a:rPr sz="3100">
                <a:solidFill>
                  <a:srgbClr val="000000"/>
                </a:solidFill>
                <a:latin typeface="Arial"/>
              </a:rPr>
              <a:t>Постановка задачі</a:t>
            </a:r>
          </a:p>
        </p:txBody>
      </p:sp>
      <p:pic>
        <p:nvPicPr>
          <p:cNvPr id="52" name="Google Shape;87;p16"/>
          <p:cNvPicPr/>
          <p:nvPr/>
        </p:nvPicPr>
        <p:blipFill>
          <a:blip r:embed="rId2"/>
          <a:stretch/>
        </p:blipFill>
        <p:spPr>
          <a:xfrm>
            <a:off x="268920" y="4359600"/>
            <a:ext cx="861840" cy="581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3" name="TextBox 52"/>
          <p:cNvSpPr txBox="1"/>
          <p:nvPr/>
        </p:nvSpPr>
        <p:spPr>
          <a:xfrm>
            <a:off x="8732520" y="4617720"/>
            <a:ext cx="292608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300">
                <a:solidFill>
                  <a:srgbClr val="000000"/>
                </a:solidFill>
                <a:latin typeface="Arial"/>
              </a:rPr>
              <a:t>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30352" y="987552"/>
            <a:ext cx="8092440" cy="36576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r>
              <a:rPr sz="1540" b="0">
                <a:solidFill>
                  <a:srgbClr val="282828"/>
                </a:solidFill>
                <a:latin typeface="Arial"/>
              </a:rPr>
              <a:t>Задача – провести повний цикл дослідження від аналізу предметної галузі до розробки програмного інструменту та формування висновків щодо вибору моделі.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48640" y="1481328"/>
            <a:ext cx="534924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9E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Ins="109728" bIns="64008" rtlCol="0" anchor="ctr"/>
          <a:lstStyle/>
          <a:p>
            <a:pPr algn="ctr">
              <a:spcAft>
                <a:spcPts val="400"/>
              </a:spcAft>
            </a:pPr>
            <a:r>
              <a:rPr sz="1460" b="1">
                <a:solidFill>
                  <a:srgbClr val="197E91"/>
                </a:solidFill>
                <a:latin typeface="Arial"/>
              </a:rPr>
              <a:t>У межах роботи необхідно:</a:t>
            </a:r>
          </a:p>
          <a:p>
            <a:pPr>
              <a:lnSpc>
                <a:spcPct val="105000"/>
              </a:lnSpc>
              <a:spcAft>
                <a:spcPts val="200"/>
              </a:spcAft>
              <a:defRPr sz="1260">
                <a:solidFill>
                  <a:srgbClr val="282828"/>
                </a:solidFill>
                <a:latin typeface="Arial"/>
              </a:defRPr>
            </a:pPr>
            <a:r>
              <a:t>провести аналіз задач семантичної класифікації тексту;</a:t>
            </a:r>
          </a:p>
          <a:p>
            <a:pPr>
              <a:lnSpc>
                <a:spcPct val="105000"/>
              </a:lnSpc>
              <a:spcAft>
                <a:spcPts val="200"/>
              </a:spcAft>
              <a:defRPr sz="1260">
                <a:solidFill>
                  <a:srgbClr val="282828"/>
                </a:solidFill>
                <a:latin typeface="Arial"/>
              </a:defRPr>
            </a:pPr>
            <a:r>
              <a:t>зробити аналіз підходів LSTM, BiLSTM і трансформерів;</a:t>
            </a:r>
          </a:p>
          <a:p>
            <a:pPr>
              <a:lnSpc>
                <a:spcPct val="105000"/>
              </a:lnSpc>
              <a:spcAft>
                <a:spcPts val="200"/>
              </a:spcAft>
              <a:defRPr sz="1260">
                <a:solidFill>
                  <a:srgbClr val="282828"/>
                </a:solidFill>
                <a:latin typeface="Arial"/>
              </a:defRPr>
            </a:pPr>
            <a:r>
              <a:t>підготувати датасет AG News та єдиний протокол експерименту;</a:t>
            </a:r>
          </a:p>
          <a:p>
            <a:pPr>
              <a:lnSpc>
                <a:spcPct val="105000"/>
              </a:lnSpc>
              <a:spcAft>
                <a:spcPts val="200"/>
              </a:spcAft>
              <a:defRPr sz="1260">
                <a:solidFill>
                  <a:srgbClr val="282828"/>
                </a:solidFill>
                <a:latin typeface="Arial"/>
              </a:defRPr>
            </a:pPr>
            <a:r>
              <a:t>розробити програмну реалізацію навчання і тестування шести моделей;</a:t>
            </a:r>
          </a:p>
          <a:p>
            <a:pPr>
              <a:lnSpc>
                <a:spcPct val="105000"/>
              </a:lnSpc>
              <a:spcAft>
                <a:spcPts val="200"/>
              </a:spcAft>
              <a:defRPr sz="1260">
                <a:solidFill>
                  <a:srgbClr val="282828"/>
                </a:solidFill>
                <a:latin typeface="Arial"/>
              </a:defRPr>
            </a:pPr>
            <a:r>
              <a:t>провести експеримент і порівняти результати за метриками якості та витратами;</a:t>
            </a:r>
          </a:p>
          <a:p>
            <a:pPr>
              <a:lnSpc>
                <a:spcPct val="105000"/>
              </a:lnSpc>
              <a:spcAft>
                <a:spcPts val="200"/>
              </a:spcAft>
              <a:defRPr sz="1260">
                <a:solidFill>
                  <a:srgbClr val="282828"/>
                </a:solidFill>
                <a:latin typeface="Arial"/>
              </a:defRPr>
            </a:pPr>
            <a:r>
              <a:t>сформувати рекомендації щодо вибору архітектури для прикладної системи.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172200" y="1481328"/>
            <a:ext cx="2176272" cy="1307592"/>
          </a:xfrm>
          <a:prstGeom prst="roundRect">
            <a:avLst/>
          </a:prstGeom>
          <a:solidFill>
            <a:srgbClr val="F8F0E7"/>
          </a:solidFill>
          <a:ln w="12700">
            <a:solidFill>
              <a:srgbClr val="CD9E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73152" bIns="36576" rtlCol="0" anchor="ctr"/>
          <a:lstStyle/>
          <a:p>
            <a:pPr algn="ctr"/>
            <a:r>
              <a:rPr sz="1360" b="1">
                <a:solidFill>
                  <a:srgbClr val="197E91"/>
                </a:solidFill>
                <a:latin typeface="Arial"/>
              </a:rPr>
              <a:t>Моделі</a:t>
            </a:r>
          </a:p>
          <a:p>
            <a:pPr algn="ctr">
              <a:spcAft>
                <a:spcPts val="100"/>
              </a:spcAft>
            </a:pPr>
            <a:r>
              <a:rPr sz="1160">
                <a:solidFill>
                  <a:srgbClr val="282828"/>
                </a:solidFill>
                <a:latin typeface="Arial"/>
              </a:rPr>
              <a:t>LSTM-Small, LSTM-Base</a:t>
            </a:r>
          </a:p>
          <a:p>
            <a:pPr algn="ctr">
              <a:spcAft>
                <a:spcPts val="100"/>
              </a:spcAft>
            </a:pPr>
            <a:r>
              <a:rPr sz="1160">
                <a:solidFill>
                  <a:srgbClr val="282828"/>
                </a:solidFill>
                <a:latin typeface="Arial"/>
              </a:rPr>
              <a:t>BiLSTM-Base</a:t>
            </a:r>
          </a:p>
          <a:p>
            <a:pPr algn="ctr">
              <a:spcAft>
                <a:spcPts val="100"/>
              </a:spcAft>
            </a:pPr>
            <a:r>
              <a:rPr sz="1160">
                <a:solidFill>
                  <a:srgbClr val="282828"/>
                </a:solidFill>
                <a:latin typeface="Arial"/>
              </a:rPr>
              <a:t>DistilBERT, BERT</a:t>
            </a:r>
          </a:p>
          <a:p>
            <a:pPr algn="ctr">
              <a:spcAft>
                <a:spcPts val="100"/>
              </a:spcAft>
            </a:pPr>
            <a:r>
              <a:rPr sz="1160">
                <a:solidFill>
                  <a:srgbClr val="282828"/>
                </a:solidFill>
                <a:latin typeface="Arial"/>
              </a:rPr>
              <a:t>RoBERTa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172200" y="2916936"/>
            <a:ext cx="2176272" cy="960120"/>
          </a:xfrm>
          <a:prstGeom prst="roundRect">
            <a:avLst/>
          </a:prstGeom>
          <a:solidFill>
            <a:srgbClr val="F8F0E7"/>
          </a:solidFill>
          <a:ln w="12700">
            <a:solidFill>
              <a:srgbClr val="CD9E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73152" bIns="36576" rtlCol="0" anchor="ctr"/>
          <a:lstStyle/>
          <a:p>
            <a:pPr algn="ctr"/>
            <a:r>
              <a:rPr sz="1350" b="1">
                <a:solidFill>
                  <a:srgbClr val="197E91"/>
                </a:solidFill>
                <a:latin typeface="Arial"/>
              </a:rPr>
              <a:t>Критерії</a:t>
            </a:r>
          </a:p>
          <a:p>
            <a:pPr algn="ctr">
              <a:spcAft>
                <a:spcPts val="100"/>
              </a:spcAft>
            </a:pPr>
            <a:r>
              <a:rPr sz="1150">
                <a:solidFill>
                  <a:srgbClr val="282828"/>
                </a:solidFill>
                <a:latin typeface="Arial"/>
              </a:rPr>
              <a:t>Accuracy, Precision, Recall</a:t>
            </a:r>
          </a:p>
          <a:p>
            <a:pPr algn="ctr">
              <a:spcAft>
                <a:spcPts val="100"/>
              </a:spcAft>
            </a:pPr>
            <a:r>
              <a:rPr sz="1150">
                <a:solidFill>
                  <a:srgbClr val="282828"/>
                </a:solidFill>
                <a:latin typeface="Arial"/>
              </a:rPr>
              <a:t>F1, час навчання</a:t>
            </a:r>
          </a:p>
          <a:p>
            <a:pPr algn="ctr">
              <a:spcAft>
                <a:spcPts val="100"/>
              </a:spcAft>
            </a:pPr>
            <a:r>
              <a:rPr sz="1150">
                <a:solidFill>
                  <a:srgbClr val="282828"/>
                </a:solidFill>
                <a:latin typeface="Arial"/>
              </a:rPr>
              <a:t>кількість параметрів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0080" y="3968496"/>
            <a:ext cx="7223760" cy="292608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r>
              <a:rPr sz="1220" b="1">
                <a:solidFill>
                  <a:srgbClr val="282828"/>
                </a:solidFill>
                <a:latin typeface="Arial"/>
              </a:rPr>
              <a:t>Очікуваний результат – визначити модель з найкращим співвідношенням якості класифікації та обчислювальних витрат.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384048" y="274320"/>
            <a:ext cx="8412480" cy="6858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/>
          <a:p>
            <a:pPr algn="l"/>
            <a:r>
              <a:rPr sz="3100">
                <a:solidFill>
                  <a:srgbClr val="000000"/>
                </a:solidFill>
                <a:latin typeface="Arial"/>
              </a:rPr>
              <a:t>Методологія дослідження</a:t>
            </a:r>
          </a:p>
        </p:txBody>
      </p:sp>
      <p:pic>
        <p:nvPicPr>
          <p:cNvPr id="56" name="Google Shape;94;p17"/>
          <p:cNvPicPr/>
          <p:nvPr/>
        </p:nvPicPr>
        <p:blipFill>
          <a:blip r:embed="rId2"/>
          <a:stretch/>
        </p:blipFill>
        <p:spPr>
          <a:xfrm>
            <a:off x="268920" y="4359600"/>
            <a:ext cx="861840" cy="581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" name="TextBox 56"/>
          <p:cNvSpPr txBox="1"/>
          <p:nvPr/>
        </p:nvSpPr>
        <p:spPr>
          <a:xfrm>
            <a:off x="8732520" y="4617720"/>
            <a:ext cx="292608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300">
                <a:solidFill>
                  <a:srgbClr val="000000"/>
                </a:solidFill>
                <a:latin typeface="Arial"/>
              </a:rPr>
              <a:t>5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1828800" y="2331720"/>
            <a:ext cx="274320" cy="0"/>
          </a:xfrm>
          <a:prstGeom prst="line">
            <a:avLst/>
          </a:prstGeom>
          <a:ln w="25400">
            <a:solidFill>
              <a:srgbClr val="CE97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3474720" y="2331720"/>
            <a:ext cx="274320" cy="0"/>
          </a:xfrm>
          <a:prstGeom prst="line">
            <a:avLst/>
          </a:prstGeom>
          <a:ln w="25400">
            <a:solidFill>
              <a:srgbClr val="CE97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5120640" y="2331720"/>
            <a:ext cx="274320" cy="0"/>
          </a:xfrm>
          <a:prstGeom prst="line">
            <a:avLst/>
          </a:prstGeom>
          <a:ln w="25400">
            <a:solidFill>
              <a:srgbClr val="CE97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6766560" y="2331720"/>
            <a:ext cx="274320" cy="0"/>
          </a:xfrm>
          <a:prstGeom prst="line">
            <a:avLst/>
          </a:prstGeom>
          <a:ln w="25400">
            <a:solidFill>
              <a:srgbClr val="CE97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Rounded Rectangle 61"/>
          <p:cNvSpPr/>
          <p:nvPr/>
        </p:nvSpPr>
        <p:spPr>
          <a:xfrm>
            <a:off x="502920" y="1691640"/>
            <a:ext cx="1325880" cy="1234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E97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8872" tIns="73152" bIns="54864" rtlCol="0" anchor="ctr"/>
          <a:lstStyle/>
          <a:p>
            <a:pPr algn="ctr"/>
            <a:r>
              <a:rPr sz="1500" b="1" dirty="0" err="1">
                <a:solidFill>
                  <a:srgbClr val="005D78"/>
                </a:solidFill>
                <a:latin typeface="Arial"/>
              </a:rPr>
              <a:t>Дані</a:t>
            </a:r>
            <a:endParaRPr sz="1500" b="1" dirty="0">
              <a:solidFill>
                <a:srgbClr val="005D78"/>
              </a:solidFill>
              <a:latin typeface="Arial"/>
            </a:endParaRPr>
          </a:p>
          <a:p>
            <a:pPr algn="ctr"/>
            <a:r>
              <a:rPr sz="1300" dirty="0">
                <a:solidFill>
                  <a:srgbClr val="000000"/>
                </a:solidFill>
                <a:latin typeface="Arial"/>
              </a:rPr>
              <a:t>AG News</a:t>
            </a:r>
            <a:br>
              <a:rPr dirty="0"/>
            </a:br>
            <a:r>
              <a:rPr sz="1300" dirty="0">
                <a:solidFill>
                  <a:srgbClr val="000000"/>
                </a:solidFill>
                <a:latin typeface="Arial"/>
              </a:rPr>
              <a:t>4 </a:t>
            </a:r>
            <a:r>
              <a:rPr sz="1300" dirty="0" err="1">
                <a:solidFill>
                  <a:srgbClr val="000000"/>
                </a:solidFill>
                <a:latin typeface="Arial"/>
              </a:rPr>
              <a:t>класи</a:t>
            </a:r>
            <a:endParaRPr sz="130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2148840" y="1691640"/>
            <a:ext cx="1430788" cy="1234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E97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8872" tIns="73152" bIns="54864" rtlCol="0" anchor="ctr"/>
          <a:lstStyle/>
          <a:p>
            <a:pPr algn="ctr"/>
            <a:r>
              <a:rPr sz="1500" b="1" dirty="0" err="1">
                <a:solidFill>
                  <a:srgbClr val="005D78"/>
                </a:solidFill>
                <a:latin typeface="Arial"/>
              </a:rPr>
              <a:t>Підготовка</a:t>
            </a:r>
            <a:endParaRPr sz="1500" b="1" dirty="0">
              <a:solidFill>
                <a:srgbClr val="005D78"/>
              </a:solidFill>
              <a:latin typeface="Arial"/>
            </a:endParaRPr>
          </a:p>
          <a:p>
            <a:pPr algn="ctr">
              <a:lnSpc>
                <a:spcPct val="105000"/>
              </a:lnSpc>
            </a:pPr>
            <a:r>
              <a:rPr lang="uk-UA" sz="1300" dirty="0">
                <a:solidFill>
                  <a:srgbClr val="000000"/>
                </a:solidFill>
                <a:latin typeface="Arial"/>
              </a:rPr>
              <a:t>О</a:t>
            </a:r>
            <a:r>
              <a:rPr sz="1300" dirty="0" err="1">
                <a:solidFill>
                  <a:srgbClr val="000000"/>
                </a:solidFill>
                <a:latin typeface="Arial"/>
              </a:rPr>
              <a:t>чищення</a:t>
            </a:r>
            <a:br>
              <a:rPr dirty="0"/>
            </a:br>
            <a:r>
              <a:rPr lang="uk-UA" sz="1300" dirty="0">
                <a:solidFill>
                  <a:srgbClr val="000000"/>
                </a:solidFill>
                <a:latin typeface="Arial"/>
              </a:rPr>
              <a:t>Т</a:t>
            </a:r>
            <a:r>
              <a:rPr sz="1300" dirty="0" err="1">
                <a:solidFill>
                  <a:srgbClr val="000000"/>
                </a:solidFill>
                <a:latin typeface="Arial"/>
              </a:rPr>
              <a:t>окенізація</a:t>
            </a:r>
            <a:endParaRPr sz="130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Rounded Rectangle 63"/>
          <p:cNvSpPr/>
          <p:nvPr/>
        </p:nvSpPr>
        <p:spPr>
          <a:xfrm>
            <a:off x="3794760" y="1691640"/>
            <a:ext cx="1325880" cy="1234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E97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8872" tIns="73152" bIns="54864" rtlCol="0" anchor="ctr"/>
          <a:lstStyle/>
          <a:p>
            <a:pPr algn="ctr"/>
            <a:r>
              <a:rPr sz="1500" b="1" dirty="0" err="1">
                <a:solidFill>
                  <a:srgbClr val="005D78"/>
                </a:solidFill>
                <a:latin typeface="Arial"/>
              </a:rPr>
              <a:t>Моделі</a:t>
            </a:r>
            <a:endParaRPr sz="1500" b="1" dirty="0">
              <a:solidFill>
                <a:srgbClr val="005D78"/>
              </a:solidFill>
              <a:latin typeface="Arial"/>
            </a:endParaRPr>
          </a:p>
          <a:p>
            <a:pPr algn="ctr">
              <a:lnSpc>
                <a:spcPct val="105000"/>
              </a:lnSpc>
            </a:pPr>
            <a:r>
              <a:rPr sz="1300" dirty="0">
                <a:solidFill>
                  <a:srgbClr val="000000"/>
                </a:solidFill>
                <a:latin typeface="Arial"/>
              </a:rPr>
              <a:t>LSTM</a:t>
            </a:r>
            <a:br>
              <a:rPr dirty="0"/>
            </a:br>
            <a:r>
              <a:rPr sz="1300" dirty="0">
                <a:solidFill>
                  <a:srgbClr val="000000"/>
                </a:solidFill>
                <a:latin typeface="Arial"/>
              </a:rPr>
              <a:t> Transformer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440680" y="1691640"/>
            <a:ext cx="1325880" cy="1234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E97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8872" tIns="73152" bIns="54864" rtlCol="0" anchor="ctr"/>
          <a:lstStyle/>
          <a:p>
            <a:pPr algn="ctr"/>
            <a:r>
              <a:rPr sz="1500" b="1" dirty="0" err="1">
                <a:solidFill>
                  <a:srgbClr val="005D78"/>
                </a:solidFill>
                <a:latin typeface="Arial"/>
              </a:rPr>
              <a:t>Оцінка</a:t>
            </a:r>
            <a:endParaRPr sz="1500" b="1" dirty="0">
              <a:solidFill>
                <a:srgbClr val="005D78"/>
              </a:solidFill>
              <a:latin typeface="Arial"/>
            </a:endParaRPr>
          </a:p>
          <a:p>
            <a:pPr algn="ctr">
              <a:lnSpc>
                <a:spcPct val="105000"/>
              </a:lnSpc>
            </a:pPr>
            <a:r>
              <a:rPr sz="1300" dirty="0">
                <a:solidFill>
                  <a:srgbClr val="000000"/>
                </a:solidFill>
                <a:latin typeface="Arial"/>
              </a:rPr>
              <a:t>F1, Accuracy</a:t>
            </a:r>
            <a:br>
              <a:rPr dirty="0"/>
            </a:br>
            <a:r>
              <a:rPr sz="1300" dirty="0" err="1">
                <a:solidFill>
                  <a:srgbClr val="000000"/>
                </a:solidFill>
                <a:latin typeface="Arial"/>
              </a:rPr>
              <a:t>час</a:t>
            </a:r>
            <a:r>
              <a:rPr sz="1300" dirty="0">
                <a:solidFill>
                  <a:srgbClr val="000000"/>
                </a:solidFill>
                <a:latin typeface="Arial"/>
              </a:rPr>
              <a:t>, </a:t>
            </a:r>
            <a:r>
              <a:rPr sz="1300" dirty="0" err="1">
                <a:solidFill>
                  <a:srgbClr val="000000"/>
                </a:solidFill>
                <a:latin typeface="Arial"/>
              </a:rPr>
              <a:t>параметри</a:t>
            </a:r>
            <a:endParaRPr sz="130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Rounded Rectangle 65"/>
          <p:cNvSpPr/>
          <p:nvPr/>
        </p:nvSpPr>
        <p:spPr>
          <a:xfrm>
            <a:off x="7086600" y="1691640"/>
            <a:ext cx="1325880" cy="1234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E97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8872" tIns="73152" bIns="54864" rtlCol="0" anchor="ctr"/>
          <a:lstStyle/>
          <a:p>
            <a:pPr algn="ctr"/>
            <a:r>
              <a:rPr sz="1500" b="1" dirty="0" err="1">
                <a:solidFill>
                  <a:srgbClr val="005D78"/>
                </a:solidFill>
                <a:latin typeface="Arial"/>
              </a:rPr>
              <a:t>Висновки</a:t>
            </a:r>
            <a:endParaRPr sz="1500" b="1" dirty="0">
              <a:solidFill>
                <a:srgbClr val="005D78"/>
              </a:solidFill>
              <a:latin typeface="Arial"/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685800" y="3337560"/>
            <a:ext cx="7498079" cy="604781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lang="uk-UA" sz="1700" b="0" noProof="1">
                <a:solidFill>
                  <a:srgbClr val="000000"/>
                </a:solidFill>
                <a:latin typeface="Arial"/>
              </a:rPr>
              <a:t>однаковий датасет, однаковий поділ на train / valid / test, однаковий набір метрик і однакова логіка збереження результатів.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laceHolder 1"/>
          <p:cNvSpPr>
            <a:spLocks noGrp="1"/>
          </p:cNvSpPr>
          <p:nvPr>
            <p:ph type="title"/>
          </p:nvPr>
        </p:nvSpPr>
        <p:spPr>
          <a:xfrm>
            <a:off x="384048" y="274320"/>
            <a:ext cx="8412480" cy="6858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algn="l"/>
            <a:r>
              <a:rPr sz="2900">
                <a:solidFill>
                  <a:srgbClr val="000000"/>
                </a:solidFill>
                <a:latin typeface="Arial"/>
              </a:rPr>
              <a:t>Опис програмного забезпечення</a:t>
            </a:r>
          </a:p>
        </p:txBody>
      </p:sp>
      <p:pic>
        <p:nvPicPr>
          <p:cNvPr id="64" name="Google Shape;108;p19"/>
          <p:cNvPicPr/>
          <p:nvPr/>
        </p:nvPicPr>
        <p:blipFill>
          <a:blip r:embed="rId2"/>
          <a:stretch/>
        </p:blipFill>
        <p:spPr>
          <a:xfrm>
            <a:off x="268920" y="4359600"/>
            <a:ext cx="861840" cy="581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5" name="TextBox 64"/>
          <p:cNvSpPr txBox="1"/>
          <p:nvPr/>
        </p:nvSpPr>
        <p:spPr>
          <a:xfrm>
            <a:off x="8732520" y="4617720"/>
            <a:ext cx="292608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300">
                <a:solidFill>
                  <a:srgbClr val="000000"/>
                </a:solidFill>
                <a:latin typeface="Arial"/>
              </a:rPr>
              <a:t>7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94360" y="1143000"/>
            <a:ext cx="2331720" cy="1508760"/>
          </a:xfrm>
          <a:prstGeom prst="roundRect">
            <a:avLst/>
          </a:prstGeom>
          <a:solidFill>
            <a:srgbClr val="F5F7F9"/>
          </a:solidFill>
          <a:ln w="15240">
            <a:solidFill>
              <a:srgbClr val="CE97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8872" tIns="73152" bIns="54864" rtlCol="0" anchor="ctr"/>
          <a:lstStyle/>
          <a:p>
            <a:pPr algn="ctr"/>
            <a:r>
              <a:rPr sz="1600" b="1">
                <a:solidFill>
                  <a:srgbClr val="005D78"/>
                </a:solidFill>
                <a:latin typeface="Arial"/>
              </a:rPr>
              <a:t>Вхідні дані</a:t>
            </a:r>
          </a:p>
          <a:p>
            <a:pPr>
              <a:lnSpc>
                <a:spcPct val="105000"/>
              </a:lnSpc>
            </a:pPr>
            <a:r>
              <a:rPr sz="1400">
                <a:solidFill>
                  <a:srgbClr val="000000"/>
                </a:solidFill>
                <a:latin typeface="Arial"/>
              </a:rPr>
              <a:t>AG News у форматі CSV: колонки text та label, окремі файли для навчання, валідації та тестування.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3383280" y="1143000"/>
            <a:ext cx="2331720" cy="1508760"/>
          </a:xfrm>
          <a:prstGeom prst="roundRect">
            <a:avLst/>
          </a:prstGeom>
          <a:solidFill>
            <a:srgbClr val="F5E7D8"/>
          </a:solidFill>
          <a:ln w="15240">
            <a:solidFill>
              <a:srgbClr val="CE97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8872" tIns="73152" bIns="54864" rtlCol="0" anchor="ctr"/>
          <a:lstStyle/>
          <a:p>
            <a:pPr algn="ctr"/>
            <a:r>
              <a:rPr sz="1600" b="1">
                <a:solidFill>
                  <a:srgbClr val="005D78"/>
                </a:solidFill>
                <a:latin typeface="Arial"/>
              </a:rPr>
              <a:t>Навчання моделей</a:t>
            </a:r>
          </a:p>
          <a:p>
            <a:pPr>
              <a:lnSpc>
                <a:spcPct val="105000"/>
              </a:lnSpc>
            </a:pPr>
            <a:r>
              <a:rPr sz="1400">
                <a:solidFill>
                  <a:srgbClr val="000000"/>
                </a:solidFill>
                <a:latin typeface="Arial"/>
              </a:rPr>
              <a:t>Окремі конфігурації для LSTM-Small, LSTM-Base, BiLSTM-Base, DistilBERT, BERT і RoBERTa.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6172200" y="1143000"/>
            <a:ext cx="2331720" cy="1508760"/>
          </a:xfrm>
          <a:prstGeom prst="roundRect">
            <a:avLst/>
          </a:prstGeom>
          <a:solidFill>
            <a:srgbClr val="F5F7F9"/>
          </a:solidFill>
          <a:ln w="15240">
            <a:solidFill>
              <a:srgbClr val="CE97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8872" tIns="73152" bIns="54864" rtlCol="0" anchor="ctr"/>
          <a:lstStyle/>
          <a:p>
            <a:pPr algn="ctr"/>
            <a:r>
              <a:rPr sz="1600" b="1">
                <a:solidFill>
                  <a:srgbClr val="005D78"/>
                </a:solidFill>
                <a:latin typeface="Arial"/>
              </a:rPr>
              <a:t>Tkinter-інтерфейс</a:t>
            </a:r>
          </a:p>
          <a:p>
            <a:pPr>
              <a:lnSpc>
                <a:spcPct val="105000"/>
              </a:lnSpc>
            </a:pPr>
            <a:r>
              <a:rPr sz="1400">
                <a:solidFill>
                  <a:srgbClr val="000000"/>
                </a:solidFill>
                <a:latin typeface="Arial"/>
              </a:rPr>
              <a:t>Запуск навчання, порівняння шести моделей, перегляд метрик і перевірка прогнозу на довільному тексті.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685800" y="3063240"/>
            <a:ext cx="3977639" cy="1143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07E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8872" tIns="73152" bIns="54864" rtlCol="0" anchor="ctr"/>
          <a:lstStyle/>
          <a:p>
            <a:pPr algn="ctr"/>
            <a:r>
              <a:rPr sz="1500" b="1">
                <a:solidFill>
                  <a:srgbClr val="005D78"/>
                </a:solidFill>
                <a:latin typeface="Arial"/>
              </a:rPr>
              <a:t>Основна логіка</a:t>
            </a:r>
          </a:p>
          <a:p>
            <a:pPr>
              <a:lnSpc>
                <a:spcPct val="105000"/>
              </a:lnSpc>
            </a:pPr>
            <a:r>
              <a:rPr sz="1300">
                <a:solidFill>
                  <a:srgbClr val="000000"/>
                </a:solidFill>
                <a:latin typeface="Arial"/>
              </a:rPr>
              <a:t>єдина функція підготовки тексту</a:t>
            </a:r>
            <a:br/>
            <a:r>
              <a:rPr sz="1300">
                <a:solidFill>
                  <a:srgbClr val="000000"/>
                </a:solidFill>
                <a:latin typeface="Arial"/>
              </a:rPr>
              <a:t>окремий запуск кожної моделі</a:t>
            </a:r>
            <a:br/>
            <a:r>
              <a:rPr sz="1300">
                <a:solidFill>
                  <a:srgbClr val="000000"/>
                </a:solidFill>
                <a:latin typeface="Arial"/>
              </a:rPr>
              <a:t>збереження результатів після навчання</a:t>
            </a:r>
            <a:br/>
            <a:r>
              <a:rPr sz="1300">
                <a:solidFill>
                  <a:srgbClr val="000000"/>
                </a:solidFill>
                <a:latin typeface="Arial"/>
              </a:rPr>
              <a:t>табличне порівняння якості та часу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5074920" y="3063240"/>
            <a:ext cx="3246120" cy="1143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E97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8872" tIns="73152" bIns="54864" rtlCol="0" anchor="ctr"/>
          <a:lstStyle/>
          <a:p>
            <a:pPr algn="ctr"/>
            <a:r>
              <a:rPr sz="1500" b="1">
                <a:solidFill>
                  <a:srgbClr val="005D78"/>
                </a:solidFill>
                <a:latin typeface="Arial"/>
              </a:rPr>
              <a:t>Результат роботи ПЗ</a:t>
            </a:r>
          </a:p>
          <a:p>
            <a:pPr>
              <a:lnSpc>
                <a:spcPct val="105000"/>
              </a:lnSpc>
            </a:pPr>
            <a:r>
              <a:rPr sz="1400">
                <a:solidFill>
                  <a:srgbClr val="000000"/>
                </a:solidFill>
                <a:latin typeface="Arial"/>
              </a:rPr>
              <a:t>набір метрик для кожної моделі та практичний інструмент демонстрації семантичної класифікації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384048" y="274320"/>
            <a:ext cx="8412480" cy="6858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/>
          <a:p>
            <a:pPr algn="l"/>
            <a:r>
              <a:rPr sz="2500">
                <a:solidFill>
                  <a:srgbClr val="000000"/>
                </a:solidFill>
                <a:latin typeface="Arial"/>
              </a:rPr>
              <a:t>Зміст проведеного експерименту</a:t>
            </a:r>
          </a:p>
        </p:txBody>
      </p:sp>
      <p:pic>
        <p:nvPicPr>
          <p:cNvPr id="68" name="Google Shape;115;p20"/>
          <p:cNvPicPr/>
          <p:nvPr/>
        </p:nvPicPr>
        <p:blipFill>
          <a:blip r:embed="rId2"/>
          <a:stretch/>
        </p:blipFill>
        <p:spPr>
          <a:xfrm>
            <a:off x="268920" y="4359600"/>
            <a:ext cx="861840" cy="581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9" name="TextBox 68"/>
          <p:cNvSpPr txBox="1"/>
          <p:nvPr/>
        </p:nvSpPr>
        <p:spPr>
          <a:xfrm>
            <a:off x="8732520" y="4617720"/>
            <a:ext cx="292608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300">
                <a:solidFill>
                  <a:srgbClr val="000000"/>
                </a:solidFill>
                <a:latin typeface="Arial"/>
              </a:rPr>
              <a:t>8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502920" y="1097280"/>
            <a:ext cx="1965960" cy="1143000"/>
          </a:xfrm>
          <a:prstGeom prst="roundRect">
            <a:avLst/>
          </a:prstGeom>
          <a:solidFill>
            <a:srgbClr val="F5E7D8"/>
          </a:solidFill>
          <a:ln w="15240">
            <a:solidFill>
              <a:srgbClr val="CE97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8872" tIns="73152" bIns="54864" rtlCol="0" anchor="ctr"/>
          <a:lstStyle/>
          <a:p>
            <a:pPr algn="ctr"/>
            <a:r>
              <a:rPr sz="1600" b="1" dirty="0" err="1">
                <a:solidFill>
                  <a:srgbClr val="005D78"/>
                </a:solidFill>
                <a:latin typeface="Arial"/>
              </a:rPr>
              <a:t>Датасет</a:t>
            </a:r>
            <a:endParaRPr sz="1600" b="1" dirty="0">
              <a:solidFill>
                <a:srgbClr val="005D78"/>
              </a:solidFill>
              <a:latin typeface="Arial"/>
            </a:endParaRPr>
          </a:p>
          <a:p>
            <a:pPr>
              <a:lnSpc>
                <a:spcPct val="105000"/>
              </a:lnSpc>
            </a:pPr>
            <a:r>
              <a:rPr sz="1300" b="1" dirty="0">
                <a:solidFill>
                  <a:srgbClr val="000000"/>
                </a:solidFill>
                <a:latin typeface="Arial"/>
              </a:rPr>
              <a:t>AG News</a:t>
            </a:r>
            <a:br>
              <a:rPr dirty="0"/>
            </a:br>
            <a:r>
              <a:rPr sz="1300" dirty="0">
                <a:solidFill>
                  <a:srgbClr val="000000"/>
                </a:solidFill>
                <a:latin typeface="Arial"/>
              </a:rPr>
              <a:t>World, Sports, Business, </a:t>
            </a:r>
            <a:r>
              <a:rPr sz="1300" dirty="0" err="1">
                <a:solidFill>
                  <a:srgbClr val="000000"/>
                </a:solidFill>
                <a:latin typeface="Arial"/>
              </a:rPr>
              <a:t>Sci</a:t>
            </a:r>
            <a:r>
              <a:rPr sz="1300" dirty="0">
                <a:solidFill>
                  <a:srgbClr val="000000"/>
                </a:solidFill>
                <a:latin typeface="Arial"/>
              </a:rPr>
              <a:t>/Tech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502920" y="2514600"/>
            <a:ext cx="1965960" cy="1417320"/>
          </a:xfrm>
          <a:prstGeom prst="roundRect">
            <a:avLst/>
          </a:prstGeom>
          <a:solidFill>
            <a:srgbClr val="F5F7F9"/>
          </a:solidFill>
          <a:ln w="15240">
            <a:solidFill>
              <a:srgbClr val="CE97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8872" tIns="73152" bIns="54864" rtlCol="0" anchor="ctr"/>
          <a:lstStyle/>
          <a:p>
            <a:pPr algn="ctr"/>
            <a:r>
              <a:rPr sz="1600" b="1">
                <a:solidFill>
                  <a:srgbClr val="005D78"/>
                </a:solidFill>
                <a:latin typeface="Arial"/>
              </a:rPr>
              <a:t>Вимірювання</a:t>
            </a:r>
          </a:p>
          <a:p>
            <a:pPr>
              <a:lnSpc>
                <a:spcPct val="105000"/>
              </a:lnSpc>
            </a:pPr>
            <a:r>
              <a:rPr sz="1300">
                <a:solidFill>
                  <a:srgbClr val="000000"/>
                </a:solidFill>
                <a:latin typeface="Arial"/>
              </a:rPr>
              <a:t>Validation F1</a:t>
            </a:r>
            <a:br/>
            <a:r>
              <a:rPr sz="1300">
                <a:solidFill>
                  <a:srgbClr val="000000"/>
                </a:solidFill>
                <a:latin typeface="Arial"/>
              </a:rPr>
              <a:t>Test F1</a:t>
            </a:r>
            <a:br/>
            <a:r>
              <a:rPr sz="1300">
                <a:solidFill>
                  <a:srgbClr val="000000"/>
                </a:solidFill>
                <a:latin typeface="Arial"/>
              </a:rPr>
              <a:t>Accuracy</a:t>
            </a:r>
            <a:br/>
            <a:r>
              <a:rPr sz="1300">
                <a:solidFill>
                  <a:srgbClr val="000000"/>
                </a:solidFill>
                <a:latin typeface="Arial"/>
              </a:rPr>
              <a:t>Training time</a:t>
            </a:r>
            <a:br/>
            <a:r>
              <a:rPr sz="1300">
                <a:solidFill>
                  <a:srgbClr val="000000"/>
                </a:solidFill>
                <a:latin typeface="Arial"/>
              </a:rPr>
              <a:t>Parameters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71800" y="1024128"/>
            <a:ext cx="3474720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1">
                <a:solidFill>
                  <a:srgbClr val="005D78"/>
                </a:solidFill>
                <a:latin typeface="Arial"/>
              </a:rPr>
              <a:t>Порівнювані моделі</a:t>
            </a:r>
          </a:p>
        </p:txBody>
      </p:sp>
      <p:graphicFrame>
        <p:nvGraphicFramePr>
          <p:cNvPr id="73" name="Table 72"/>
          <p:cNvGraphicFramePr>
            <a:graphicFrameLocks noGrp="1"/>
          </p:cNvGraphicFramePr>
          <p:nvPr/>
        </p:nvGraphicFramePr>
        <p:xfrm>
          <a:off x="2834640" y="1417320"/>
          <a:ext cx="507492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Група</a:t>
                      </a:r>
                    </a:p>
                  </a:txBody>
                  <a:tcPr marL="27432" marR="27432" marT="27432" marB="27432">
                    <a:solidFill>
                      <a:srgbClr val="005D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Модель</a:t>
                      </a:r>
                    </a:p>
                  </a:txBody>
                  <a:tcPr marL="27432" marR="27432" marT="27432" marB="27432">
                    <a:solidFill>
                      <a:srgbClr val="005D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Роль</a:t>
                      </a:r>
                    </a:p>
                  </a:txBody>
                  <a:tcPr marL="27432" marR="27432" marT="27432" marB="27432">
                    <a:solidFill>
                      <a:srgbClr val="005D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 dirty="0">
                          <a:solidFill>
                            <a:srgbClr val="000000"/>
                          </a:solidFill>
                          <a:latin typeface="Arial"/>
                        </a:rPr>
                        <a:t>LSTM</a:t>
                      </a:r>
                    </a:p>
                  </a:txBody>
                  <a:tcPr marL="27432" marR="27432" marT="27432" marB="27432"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Arial"/>
                        </a:rPr>
                        <a:t>LSTM-Small</a:t>
                      </a:r>
                    </a:p>
                  </a:txBody>
                  <a:tcPr marL="27432" marR="27432" marT="27432" marB="27432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 err="1">
                          <a:solidFill>
                            <a:srgbClr val="000000"/>
                          </a:solidFill>
                          <a:latin typeface="Arial"/>
                        </a:rPr>
                        <a:t>компактна</a:t>
                      </a:r>
                      <a:endParaRPr sz="1000" b="0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27432" marR="27432" marT="27432" marB="27432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Arial"/>
                        </a:rPr>
                        <a:t>LSTM</a:t>
                      </a:r>
                    </a:p>
                  </a:txBody>
                  <a:tcPr marL="27432" marR="27432" marT="27432" marB="27432"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Arial"/>
                        </a:rPr>
                        <a:t>LSTM-Base</a:t>
                      </a:r>
                    </a:p>
                  </a:txBody>
                  <a:tcPr marL="27432" marR="27432" marT="27432" marB="27432"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Arial"/>
                        </a:rPr>
                        <a:t>базова</a:t>
                      </a:r>
                    </a:p>
                  </a:txBody>
                  <a:tcPr marL="27432" marR="27432" marT="27432" marB="27432">
                    <a:solidFill>
                      <a:srgbClr val="F5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Arial"/>
                        </a:rPr>
                        <a:t>LSTM</a:t>
                      </a:r>
                    </a:p>
                  </a:txBody>
                  <a:tcPr marL="27432" marR="27432" marT="27432" marB="27432"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Arial"/>
                        </a:rPr>
                        <a:t>BiLSTM-Base</a:t>
                      </a:r>
                    </a:p>
                  </a:txBody>
                  <a:tcPr marL="27432" marR="27432" marT="27432" marB="27432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 err="1">
                          <a:solidFill>
                            <a:srgbClr val="000000"/>
                          </a:solidFill>
                          <a:latin typeface="Arial"/>
                        </a:rPr>
                        <a:t>двонапрямна</a:t>
                      </a:r>
                      <a:endParaRPr sz="1000" b="0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27432" marR="27432" marT="27432" marB="27432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74" name="Table 73"/>
          <p:cNvGraphicFramePr>
            <a:graphicFrameLocks noGrp="1"/>
          </p:cNvGraphicFramePr>
          <p:nvPr/>
        </p:nvGraphicFramePr>
        <p:xfrm>
          <a:off x="2834640" y="3063240"/>
          <a:ext cx="5074920" cy="12070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Група</a:t>
                      </a:r>
                    </a:p>
                  </a:txBody>
                  <a:tcPr marL="27432" marR="27432" marT="27432" marB="27432">
                    <a:solidFill>
                      <a:srgbClr val="CE97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Модель</a:t>
                      </a:r>
                    </a:p>
                  </a:txBody>
                  <a:tcPr marL="27432" marR="27432" marT="27432" marB="27432">
                    <a:solidFill>
                      <a:srgbClr val="CE97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Роль</a:t>
                      </a:r>
                    </a:p>
                  </a:txBody>
                  <a:tcPr marL="27432" marR="27432" marT="27432" marB="27432">
                    <a:solidFill>
                      <a:srgbClr val="CE97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Arial"/>
                        </a:rPr>
                        <a:t>Transformer</a:t>
                      </a:r>
                    </a:p>
                  </a:txBody>
                  <a:tcPr marL="27432" marR="27432" marT="27432" marB="27432"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Arial"/>
                        </a:rPr>
                        <a:t>DistilBERT</a:t>
                      </a:r>
                    </a:p>
                  </a:txBody>
                  <a:tcPr marL="27432" marR="27432" marT="27432" marB="27432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Arial"/>
                        </a:rPr>
                        <a:t>полегшена</a:t>
                      </a:r>
                    </a:p>
                  </a:txBody>
                  <a:tcPr marL="27432" marR="27432" marT="27432" marB="27432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Arial"/>
                        </a:rPr>
                        <a:t>Transformer</a:t>
                      </a:r>
                    </a:p>
                  </a:txBody>
                  <a:tcPr marL="27432" marR="27432" marT="27432" marB="27432"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Arial"/>
                        </a:rPr>
                        <a:t>BERT</a:t>
                      </a:r>
                    </a:p>
                  </a:txBody>
                  <a:tcPr marL="27432" marR="27432" marT="27432" marB="27432"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Arial"/>
                        </a:rPr>
                        <a:t>базова</a:t>
                      </a:r>
                    </a:p>
                  </a:txBody>
                  <a:tcPr marL="27432" marR="27432" marT="27432" marB="27432">
                    <a:solidFill>
                      <a:srgbClr val="F5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Arial"/>
                        </a:rPr>
                        <a:t>Transformer</a:t>
                      </a:r>
                    </a:p>
                  </a:txBody>
                  <a:tcPr marL="27432" marR="27432" marT="27432" marB="27432"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Arial"/>
                        </a:rPr>
                        <a:t>RoBERTa</a:t>
                      </a:r>
                    </a:p>
                  </a:txBody>
                  <a:tcPr marL="27432" marR="27432" marT="27432" marB="27432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Arial"/>
                        </a:rPr>
                        <a:t>модифікована</a:t>
                      </a:r>
                    </a:p>
                  </a:txBody>
                  <a:tcPr marL="27432" marR="27432" marT="27432" marB="27432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384048" y="274320"/>
            <a:ext cx="8412480" cy="6858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/>
          <a:p>
            <a:pPr algn="l"/>
            <a:r>
              <a:rPr sz="3100">
                <a:solidFill>
                  <a:srgbClr val="000000"/>
                </a:solidFill>
                <a:latin typeface="Arial"/>
              </a:rPr>
              <a:t>Результати експерименту</a:t>
            </a:r>
          </a:p>
        </p:txBody>
      </p:sp>
      <p:pic>
        <p:nvPicPr>
          <p:cNvPr id="72" name="Google Shape;122;p21"/>
          <p:cNvPicPr/>
          <p:nvPr/>
        </p:nvPicPr>
        <p:blipFill>
          <a:blip r:embed="rId2"/>
          <a:stretch/>
        </p:blipFill>
        <p:spPr>
          <a:xfrm>
            <a:off x="268920" y="4359600"/>
            <a:ext cx="861840" cy="581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3" name="TextBox 72"/>
          <p:cNvSpPr txBox="1"/>
          <p:nvPr/>
        </p:nvSpPr>
        <p:spPr>
          <a:xfrm>
            <a:off x="8732520" y="4617720"/>
            <a:ext cx="292608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300">
                <a:solidFill>
                  <a:srgbClr val="000000"/>
                </a:solidFill>
                <a:latin typeface="Arial"/>
              </a:rPr>
              <a:t>9</a:t>
            </a:r>
          </a:p>
        </p:txBody>
      </p:sp>
      <p:graphicFrame>
        <p:nvGraphicFramePr>
          <p:cNvPr id="74" name="Chart 73"/>
          <p:cNvGraphicFramePr>
            <a:graphicFrameLocks noGrp="1"/>
          </p:cNvGraphicFramePr>
          <p:nvPr/>
        </p:nvGraphicFramePr>
        <p:xfrm>
          <a:off x="502920" y="1097280"/>
          <a:ext cx="3794760" cy="24688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5" name="Table 74"/>
          <p:cNvGraphicFramePr>
            <a:graphicFrameLocks noGrp="1"/>
          </p:cNvGraphicFramePr>
          <p:nvPr/>
        </p:nvGraphicFramePr>
        <p:xfrm>
          <a:off x="4526280" y="1143000"/>
          <a:ext cx="4069080" cy="2423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303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303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830" b="1">
                          <a:solidFill>
                            <a:srgbClr val="FFFFFF"/>
                          </a:solidFill>
                          <a:latin typeface="Arial"/>
                        </a:rPr>
                        <a:t>Модель</a:t>
                      </a:r>
                    </a:p>
                  </a:txBody>
                  <a:tcPr marL="27432" marR="27432" marT="27432" marB="27432">
                    <a:solidFill>
                      <a:srgbClr val="005D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30" b="1">
                          <a:solidFill>
                            <a:srgbClr val="FFFFFF"/>
                          </a:solidFill>
                          <a:latin typeface="Arial"/>
                        </a:rPr>
                        <a:t>Клас</a:t>
                      </a:r>
                    </a:p>
                  </a:txBody>
                  <a:tcPr marL="27432" marR="27432" marT="27432" marB="27432">
                    <a:solidFill>
                      <a:srgbClr val="005D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30" b="1">
                          <a:solidFill>
                            <a:srgbClr val="FFFFFF"/>
                          </a:solidFill>
                          <a:latin typeface="Arial"/>
                        </a:rPr>
                        <a:t>Val F1</a:t>
                      </a:r>
                    </a:p>
                  </a:txBody>
                  <a:tcPr marL="27432" marR="27432" marT="27432" marB="27432">
                    <a:solidFill>
                      <a:srgbClr val="005D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30" b="1">
                          <a:solidFill>
                            <a:srgbClr val="FFFFFF"/>
                          </a:solidFill>
                          <a:latin typeface="Arial"/>
                        </a:rPr>
                        <a:t>Test F1</a:t>
                      </a:r>
                    </a:p>
                  </a:txBody>
                  <a:tcPr marL="27432" marR="27432" marT="27432" marB="27432">
                    <a:solidFill>
                      <a:srgbClr val="005D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30" b="1">
                          <a:solidFill>
                            <a:srgbClr val="FFFFFF"/>
                          </a:solidFill>
                          <a:latin typeface="Arial"/>
                        </a:rPr>
                        <a:t>Accuracy</a:t>
                      </a:r>
                    </a:p>
                  </a:txBody>
                  <a:tcPr marL="27432" marR="27432" marT="27432" marB="27432">
                    <a:solidFill>
                      <a:srgbClr val="005D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30" b="1">
                          <a:solidFill>
                            <a:srgbClr val="FFFFFF"/>
                          </a:solidFill>
                          <a:latin typeface="Arial"/>
                        </a:rPr>
                        <a:t>Час, с</a:t>
                      </a:r>
                    </a:p>
                  </a:txBody>
                  <a:tcPr marL="27432" marR="27432" marT="27432" marB="27432">
                    <a:solidFill>
                      <a:srgbClr val="005D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6165">
                <a:tc>
                  <a:txBody>
                    <a:bodyPr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Arial"/>
                        </a:rPr>
                        <a:t>LSTM-Small</a:t>
                      </a:r>
                    </a:p>
                  </a:txBody>
                  <a:tcPr marL="27432" marR="27432" marT="27432" marB="27432"/>
                </a:tc>
                <a:tc>
                  <a:txBody>
                    <a:bodyPr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Arial"/>
                        </a:rPr>
                        <a:t>LSTM</a:t>
                      </a:r>
                    </a:p>
                  </a:txBody>
                  <a:tcPr marL="27432" marR="27432" marT="27432" marB="27432"/>
                </a:tc>
                <a:tc>
                  <a:txBody>
                    <a:bodyPr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Arial"/>
                        </a:rPr>
                        <a:t>0,8932</a:t>
                      </a:r>
                    </a:p>
                  </a:txBody>
                  <a:tcPr marL="27432" marR="27432" marT="27432" marB="27432"/>
                </a:tc>
                <a:tc>
                  <a:txBody>
                    <a:bodyPr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Arial"/>
                        </a:rPr>
                        <a:t>0,8956</a:t>
                      </a:r>
                    </a:p>
                  </a:txBody>
                  <a:tcPr marL="27432" marR="27432" marT="27432" marB="27432"/>
                </a:tc>
                <a:tc>
                  <a:txBody>
                    <a:bodyPr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Arial"/>
                        </a:rPr>
                        <a:t>0,8859</a:t>
                      </a:r>
                    </a:p>
                  </a:txBody>
                  <a:tcPr marL="27432" marR="27432" marT="27432" marB="27432"/>
                </a:tc>
                <a:tc>
                  <a:txBody>
                    <a:bodyPr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Arial"/>
                        </a:rPr>
                        <a:t>1181</a:t>
                      </a:r>
                    </a:p>
                  </a:txBody>
                  <a:tcPr marL="27432" marR="27432" marT="27432" marB="27432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6165">
                <a:tc>
                  <a:txBody>
                    <a:bodyPr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Arial"/>
                        </a:rPr>
                        <a:t>LSTM-Base</a:t>
                      </a:r>
                    </a:p>
                  </a:txBody>
                  <a:tcPr marL="27432" marR="27432" marT="27432" marB="27432"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Arial"/>
                        </a:rPr>
                        <a:t>LSTM</a:t>
                      </a:r>
                    </a:p>
                  </a:txBody>
                  <a:tcPr marL="27432" marR="27432" marT="27432" marB="27432"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Arial"/>
                        </a:rPr>
                        <a:t>0,9039</a:t>
                      </a:r>
                    </a:p>
                  </a:txBody>
                  <a:tcPr marL="27432" marR="27432" marT="27432" marB="27432"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Arial"/>
                        </a:rPr>
                        <a:t>0,8966</a:t>
                      </a:r>
                    </a:p>
                  </a:txBody>
                  <a:tcPr marL="27432" marR="27432" marT="27432" marB="27432"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Arial"/>
                        </a:rPr>
                        <a:t>0,8967</a:t>
                      </a:r>
                    </a:p>
                  </a:txBody>
                  <a:tcPr marL="27432" marR="27432" marT="27432" marB="27432"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Arial"/>
                        </a:rPr>
                        <a:t>1407</a:t>
                      </a:r>
                    </a:p>
                  </a:txBody>
                  <a:tcPr marL="27432" marR="27432" marT="27432" marB="27432">
                    <a:solidFill>
                      <a:srgbClr val="F5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6165">
                <a:tc>
                  <a:txBody>
                    <a:bodyPr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Arial"/>
                        </a:rPr>
                        <a:t>BiLSTM-Base</a:t>
                      </a:r>
                    </a:p>
                  </a:txBody>
                  <a:tcPr marL="27432" marR="27432" marT="27432" marB="27432"/>
                </a:tc>
                <a:tc>
                  <a:txBody>
                    <a:bodyPr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Arial"/>
                        </a:rPr>
                        <a:t>LSTM</a:t>
                      </a:r>
                    </a:p>
                  </a:txBody>
                  <a:tcPr marL="27432" marR="27432" marT="27432" marB="27432"/>
                </a:tc>
                <a:tc>
                  <a:txBody>
                    <a:bodyPr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Arial"/>
                        </a:rPr>
                        <a:t>0,9107</a:t>
                      </a:r>
                    </a:p>
                  </a:txBody>
                  <a:tcPr marL="27432" marR="27432" marT="27432" marB="27432"/>
                </a:tc>
                <a:tc>
                  <a:txBody>
                    <a:bodyPr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Arial"/>
                        </a:rPr>
                        <a:t>0,9036</a:t>
                      </a:r>
                    </a:p>
                  </a:txBody>
                  <a:tcPr marL="27432" marR="27432" marT="27432" marB="27432"/>
                </a:tc>
                <a:tc>
                  <a:txBody>
                    <a:bodyPr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Arial"/>
                        </a:rPr>
                        <a:t>0,9036</a:t>
                      </a:r>
                    </a:p>
                  </a:txBody>
                  <a:tcPr marL="27432" marR="27432" marT="27432" marB="27432"/>
                </a:tc>
                <a:tc>
                  <a:txBody>
                    <a:bodyPr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Arial"/>
                        </a:rPr>
                        <a:t>1834</a:t>
                      </a:r>
                    </a:p>
                  </a:txBody>
                  <a:tcPr marL="27432" marR="27432" marT="27432" marB="27432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6165">
                <a:tc>
                  <a:txBody>
                    <a:bodyPr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Arial"/>
                        </a:rPr>
                        <a:t>DistilBERT</a:t>
                      </a:r>
                    </a:p>
                  </a:txBody>
                  <a:tcPr marL="27432" marR="27432" marT="27432" marB="27432"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Arial"/>
                        </a:rPr>
                        <a:t>Transformer</a:t>
                      </a:r>
                    </a:p>
                  </a:txBody>
                  <a:tcPr marL="27432" marR="27432" marT="27432" marB="27432"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Arial"/>
                        </a:rPr>
                        <a:t>0,8832</a:t>
                      </a:r>
                    </a:p>
                  </a:txBody>
                  <a:tcPr marL="27432" marR="27432" marT="27432" marB="27432"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Arial"/>
                        </a:rPr>
                        <a:t>0,8859</a:t>
                      </a:r>
                    </a:p>
                  </a:txBody>
                  <a:tcPr marL="27432" marR="27432" marT="27432" marB="27432"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Arial"/>
                        </a:rPr>
                        <a:t>0,8855</a:t>
                      </a:r>
                    </a:p>
                  </a:txBody>
                  <a:tcPr marL="27432" marR="27432" marT="27432" marB="27432"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Arial"/>
                        </a:rPr>
                        <a:t>2430</a:t>
                      </a:r>
                    </a:p>
                  </a:txBody>
                  <a:tcPr marL="27432" marR="27432" marT="27432" marB="27432">
                    <a:solidFill>
                      <a:srgbClr val="F5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6165">
                <a:tc>
                  <a:txBody>
                    <a:bodyPr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Arial"/>
                        </a:rPr>
                        <a:t>BERT</a:t>
                      </a:r>
                    </a:p>
                  </a:txBody>
                  <a:tcPr marL="27432" marR="27432" marT="27432" marB="27432"/>
                </a:tc>
                <a:tc>
                  <a:txBody>
                    <a:bodyPr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Arial"/>
                        </a:rPr>
                        <a:t>Transformer</a:t>
                      </a:r>
                    </a:p>
                  </a:txBody>
                  <a:tcPr marL="27432" marR="27432" marT="27432" marB="27432"/>
                </a:tc>
                <a:tc>
                  <a:txBody>
                    <a:bodyPr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Arial"/>
                        </a:rPr>
                        <a:t>0,7523</a:t>
                      </a:r>
                    </a:p>
                  </a:txBody>
                  <a:tcPr marL="27432" marR="27432" marT="27432" marB="27432"/>
                </a:tc>
                <a:tc>
                  <a:txBody>
                    <a:bodyPr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Arial"/>
                        </a:rPr>
                        <a:t>0,7520</a:t>
                      </a:r>
                    </a:p>
                  </a:txBody>
                  <a:tcPr marL="27432" marR="27432" marT="27432" marB="27432"/>
                </a:tc>
                <a:tc>
                  <a:txBody>
                    <a:bodyPr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Arial"/>
                        </a:rPr>
                        <a:t>0,7525</a:t>
                      </a:r>
                    </a:p>
                  </a:txBody>
                  <a:tcPr marL="27432" marR="27432" marT="27432" marB="27432"/>
                </a:tc>
                <a:tc>
                  <a:txBody>
                    <a:bodyPr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Arial"/>
                        </a:rPr>
                        <a:t>5473</a:t>
                      </a:r>
                    </a:p>
                  </a:txBody>
                  <a:tcPr marL="27432" marR="27432" marT="27432" marB="27432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6170">
                <a:tc>
                  <a:txBody>
                    <a:bodyPr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Arial"/>
                        </a:rPr>
                        <a:t>RoBERTa</a:t>
                      </a:r>
                    </a:p>
                  </a:txBody>
                  <a:tcPr marL="27432" marR="27432" marT="27432" marB="27432"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Arial"/>
                        </a:rPr>
                        <a:t>Transformer</a:t>
                      </a:r>
                    </a:p>
                  </a:txBody>
                  <a:tcPr marL="27432" marR="27432" marT="27432" marB="27432"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Arial"/>
                        </a:rPr>
                        <a:t>0,3509</a:t>
                      </a:r>
                    </a:p>
                  </a:txBody>
                  <a:tcPr marL="27432" marR="27432" marT="27432" marB="27432"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Arial"/>
                        </a:rPr>
                        <a:t>0,3422</a:t>
                      </a:r>
                    </a:p>
                  </a:txBody>
                  <a:tcPr marL="27432" marR="27432" marT="27432" marB="27432"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Arial"/>
                        </a:rPr>
                        <a:t>0,4645</a:t>
                      </a:r>
                    </a:p>
                  </a:txBody>
                  <a:tcPr marL="27432" marR="27432" marT="27432" marB="27432"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Arial"/>
                        </a:rPr>
                        <a:t>5913</a:t>
                      </a:r>
                    </a:p>
                  </a:txBody>
                  <a:tcPr marL="27432" marR="27432" marT="27432" marB="27432">
                    <a:solidFill>
                      <a:srgbClr val="F5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6" name="Rounded Rectangle 75"/>
          <p:cNvSpPr/>
          <p:nvPr/>
        </p:nvSpPr>
        <p:spPr>
          <a:xfrm>
            <a:off x="731520" y="3889948"/>
            <a:ext cx="3495706" cy="435163"/>
          </a:xfrm>
          <a:prstGeom prst="roundRect">
            <a:avLst/>
          </a:prstGeom>
          <a:solidFill>
            <a:srgbClr val="007E9B"/>
          </a:solidFill>
          <a:ln>
            <a:solidFill>
              <a:srgbClr val="007E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Найкращий Test F1 – BiLSTM-Base 0,9036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4709159" y="3889948"/>
            <a:ext cx="3497955" cy="435163"/>
          </a:xfrm>
          <a:prstGeom prst="roundRect">
            <a:avLst/>
          </a:prstGeom>
          <a:solidFill>
            <a:srgbClr val="CE975F"/>
          </a:solidFill>
          <a:ln>
            <a:solidFill>
              <a:srgbClr val="CE97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dirty="0" err="1">
                <a:solidFill>
                  <a:srgbClr val="FFFFFF"/>
                </a:solidFill>
                <a:latin typeface="Arial"/>
              </a:rPr>
              <a:t>Найкращий</a:t>
            </a:r>
            <a:r>
              <a:rPr sz="1300" b="1" dirty="0">
                <a:solidFill>
                  <a:srgbClr val="FFFFFF"/>
                </a:solidFill>
                <a:latin typeface="Arial"/>
              </a:rPr>
              <a:t> </a:t>
            </a:r>
            <a:r>
              <a:rPr sz="1300" b="1" dirty="0" err="1">
                <a:solidFill>
                  <a:srgbClr val="FFFFFF"/>
                </a:solidFill>
                <a:latin typeface="Arial"/>
              </a:rPr>
              <a:t>трансформер</a:t>
            </a:r>
            <a:r>
              <a:rPr sz="1300" b="1" dirty="0">
                <a:solidFill>
                  <a:srgbClr val="FFFFFF"/>
                </a:solidFill>
                <a:latin typeface="Arial"/>
              </a:rPr>
              <a:t> – </a:t>
            </a:r>
            <a:r>
              <a:rPr sz="1300" b="1" dirty="0" err="1">
                <a:solidFill>
                  <a:srgbClr val="FFFFFF"/>
                </a:solidFill>
                <a:latin typeface="Arial"/>
              </a:rPr>
              <a:t>DistilBERT</a:t>
            </a:r>
            <a:r>
              <a:rPr sz="1300" b="1" dirty="0">
                <a:solidFill>
                  <a:srgbClr val="FFFFFF"/>
                </a:solidFill>
                <a:latin typeface="Arial"/>
              </a:rPr>
              <a:t> 0,8859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PlaceHolder 1"/>
          <p:cNvSpPr>
            <a:spLocks noGrp="1"/>
          </p:cNvSpPr>
          <p:nvPr>
            <p:ph type="title"/>
          </p:nvPr>
        </p:nvSpPr>
        <p:spPr>
          <a:xfrm>
            <a:off x="384048" y="274320"/>
            <a:ext cx="8412480" cy="6858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/>
          <a:p>
            <a:pPr algn="l"/>
            <a:r>
              <a:rPr sz="2900">
                <a:solidFill>
                  <a:srgbClr val="000000"/>
                </a:solidFill>
                <a:latin typeface="Arial"/>
              </a:rPr>
              <a:t>Аналіз отриманих результатів</a:t>
            </a:r>
          </a:p>
        </p:txBody>
      </p:sp>
      <p:pic>
        <p:nvPicPr>
          <p:cNvPr id="76" name="Google Shape;129;p22"/>
          <p:cNvPicPr/>
          <p:nvPr/>
        </p:nvPicPr>
        <p:blipFill>
          <a:blip r:embed="rId2"/>
          <a:stretch/>
        </p:blipFill>
        <p:spPr>
          <a:xfrm>
            <a:off x="268920" y="4359600"/>
            <a:ext cx="861840" cy="581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7" name="TextBox 76"/>
          <p:cNvSpPr txBox="1"/>
          <p:nvPr/>
        </p:nvSpPr>
        <p:spPr>
          <a:xfrm>
            <a:off x="8732520" y="4617720"/>
            <a:ext cx="292608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300">
                <a:solidFill>
                  <a:srgbClr val="000000"/>
                </a:solidFill>
                <a:latin typeface="Arial"/>
              </a:rPr>
              <a:t>10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136711" y="2700668"/>
            <a:ext cx="3344306" cy="1548484"/>
          </a:xfrm>
          <a:prstGeom prst="roundRect">
            <a:avLst/>
          </a:prstGeom>
          <a:solidFill>
            <a:srgbClr val="F5E7D8"/>
          </a:solidFill>
          <a:ln w="15240">
            <a:solidFill>
              <a:srgbClr val="CE97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8872" tIns="73152" bIns="54864" rtlCol="0" anchor="ctr"/>
          <a:lstStyle/>
          <a:p>
            <a:pPr algn="ctr"/>
            <a:r>
              <a:rPr lang="uk-UA" sz="1600" b="1" noProof="1">
                <a:solidFill>
                  <a:srgbClr val="005D78"/>
                </a:solidFill>
                <a:latin typeface="Arial"/>
              </a:rPr>
              <a:t>Основне спостереження</a:t>
            </a:r>
          </a:p>
          <a:p>
            <a:pPr>
              <a:lnSpc>
                <a:spcPct val="105000"/>
              </a:lnSpc>
            </a:pPr>
            <a:r>
              <a:rPr lang="uk-UA" sz="1500" noProof="1">
                <a:solidFill>
                  <a:srgbClr val="000000"/>
                </a:solidFill>
                <a:latin typeface="Arial"/>
              </a:rPr>
              <a:t>У цьому експерименті LSTM-група показала стабільніші результати за F1, а BiLSTM-Base стала найкращою моделлю.</a:t>
            </a: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81017" y="977549"/>
            <a:ext cx="5411449" cy="29204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title"/>
          </p:nvPr>
        </p:nvSpPr>
        <p:spPr>
          <a:xfrm>
            <a:off x="384048" y="274320"/>
            <a:ext cx="8412480" cy="6858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/>
          <a:p>
            <a:r>
              <a:t>Висновки</a:t>
            </a:r>
          </a:p>
        </p:txBody>
      </p:sp>
      <p:pic>
        <p:nvPicPr>
          <p:cNvPr id="84" name="Google Shape;143;p24"/>
          <p:cNvPicPr/>
          <p:nvPr/>
        </p:nvPicPr>
        <p:blipFill>
          <a:blip r:embed="rId2"/>
          <a:stretch/>
        </p:blipFill>
        <p:spPr>
          <a:xfrm>
            <a:off x="268920" y="4359600"/>
            <a:ext cx="861840" cy="581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5" name="TextBox 84"/>
          <p:cNvSpPr txBox="1"/>
          <p:nvPr/>
        </p:nvSpPr>
        <p:spPr>
          <a:xfrm>
            <a:off x="8732520" y="4617720"/>
            <a:ext cx="292608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300">
                <a:solidFill>
                  <a:srgbClr val="000000"/>
                </a:solidFill>
                <a:latin typeface="Arial"/>
              </a:rPr>
              <a:t>12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749808" y="1051560"/>
            <a:ext cx="7479792" cy="30540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9E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28016" rIns="164592" bIns="91440" rtlCol="0" anchor="ctr"/>
          <a:lstStyle/>
          <a:p>
            <a:pPr algn="ctr">
              <a:spcAft>
                <a:spcPts val="500"/>
              </a:spcAft>
            </a:pPr>
            <a:r>
              <a:rPr sz="1600" b="1">
                <a:solidFill>
                  <a:srgbClr val="197E91"/>
                </a:solidFill>
                <a:latin typeface="Arial"/>
              </a:rPr>
              <a:t>За результатами виконаної роботи:</a:t>
            </a:r>
          </a:p>
          <a:p>
            <a:pPr>
              <a:lnSpc>
                <a:spcPct val="104000"/>
              </a:lnSpc>
              <a:spcAft>
                <a:spcPts val="200"/>
              </a:spcAft>
            </a:pPr>
            <a:r>
              <a:rPr sz="1320">
                <a:solidFill>
                  <a:srgbClr val="282828"/>
                </a:solidFill>
                <a:latin typeface="Arial"/>
              </a:rPr>
              <a:t>проведено аналіз задач семантичного аналізу та вимог до класифікації тексту;</a:t>
            </a:r>
          </a:p>
          <a:p>
            <a:pPr>
              <a:lnSpc>
                <a:spcPct val="104000"/>
              </a:lnSpc>
              <a:spcAft>
                <a:spcPts val="200"/>
              </a:spcAft>
            </a:pPr>
            <a:r>
              <a:rPr sz="1320">
                <a:solidFill>
                  <a:srgbClr val="282828"/>
                </a:solidFill>
                <a:latin typeface="Arial"/>
              </a:rPr>
              <a:t>зроблено аналіз архітектур LSTM, BiLSTM і трансформерних моделей;</a:t>
            </a:r>
          </a:p>
          <a:p>
            <a:pPr>
              <a:lnSpc>
                <a:spcPct val="104000"/>
              </a:lnSpc>
              <a:spcAft>
                <a:spcPts val="200"/>
              </a:spcAft>
            </a:pPr>
            <a:r>
              <a:rPr sz="1320">
                <a:solidFill>
                  <a:srgbClr val="282828"/>
                </a:solidFill>
                <a:latin typeface="Arial"/>
              </a:rPr>
              <a:t>розроблено програмну реалізацію навчання, тестування та порівняння шести моделей;</a:t>
            </a:r>
          </a:p>
          <a:p>
            <a:pPr>
              <a:lnSpc>
                <a:spcPct val="104000"/>
              </a:lnSpc>
              <a:spcAft>
                <a:spcPts val="200"/>
              </a:spcAft>
            </a:pPr>
            <a:r>
              <a:rPr sz="1320">
                <a:solidFill>
                  <a:srgbClr val="282828"/>
                </a:solidFill>
                <a:latin typeface="Arial"/>
              </a:rPr>
              <a:t>проведено експеримент на датасеті AG News за єдиним протоколом;</a:t>
            </a:r>
          </a:p>
          <a:p>
            <a:pPr>
              <a:lnSpc>
                <a:spcPct val="104000"/>
              </a:lnSpc>
              <a:spcAft>
                <a:spcPts val="200"/>
              </a:spcAft>
            </a:pPr>
            <a:r>
              <a:rPr sz="1320">
                <a:solidFill>
                  <a:srgbClr val="282828"/>
                </a:solidFill>
                <a:latin typeface="Arial"/>
              </a:rPr>
              <a:t>отримано й порівняно значення Accuracy, Precision, Recall, F1, часу навчання та кількості параметрів;</a:t>
            </a:r>
          </a:p>
          <a:p>
            <a:pPr>
              <a:lnSpc>
                <a:spcPct val="104000"/>
              </a:lnSpc>
              <a:spcAft>
                <a:spcPts val="200"/>
              </a:spcAft>
            </a:pPr>
            <a:r>
              <a:rPr sz="1320">
                <a:solidFill>
                  <a:srgbClr val="282828"/>
                </a:solidFill>
                <a:latin typeface="Arial"/>
              </a:rPr>
              <a:t>визначено, що у заданому протоколі найкраще співвідношення якості та витрат показала BiLSTM-Base.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999232" y="4261104"/>
            <a:ext cx="3200400" cy="32004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ctr"/>
            <a:r>
              <a:rPr sz="1550" b="1">
                <a:solidFill>
                  <a:srgbClr val="197E91"/>
                </a:solidFill>
                <a:latin typeface="Arial"/>
              </a:rPr>
              <a:t>Дякую за увагу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uxe">
  <a:themeElements>
    <a:clrScheme name="Luxe">
      <a:dk1>
        <a:srgbClr val="000000"/>
      </a:dk1>
      <a:lt1>
        <a:srgbClr val="FFFFFF"/>
      </a:lt1>
      <a:dk2>
        <a:srgbClr val="B7B7B7"/>
      </a:dk2>
      <a:lt2>
        <a:srgbClr val="CCA677"/>
      </a:lt2>
      <a:accent1>
        <a:srgbClr val="5D4037"/>
      </a:accent1>
      <a:accent2>
        <a:srgbClr val="455A64"/>
      </a:accent2>
      <a:accent3>
        <a:srgbClr val="57BB8A"/>
      </a:accent3>
      <a:accent4>
        <a:srgbClr val="78909C"/>
      </a:accent4>
      <a:accent5>
        <a:srgbClr val="607D8B"/>
      </a:accent5>
      <a:accent6>
        <a:srgbClr val="DCE755"/>
      </a:accent6>
      <a:hlink>
        <a:srgbClr val="607D8B"/>
      </a:hlink>
      <a:folHlink>
        <a:srgbClr val="607D8B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45</TotalTime>
  <Words>661</Words>
  <Application>Microsoft Macintosh PowerPoint</Application>
  <PresentationFormat>On-screen Show (16:9)</PresentationFormat>
  <Paragraphs>166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6" baseType="lpstr">
      <vt:lpstr>Arial</vt:lpstr>
      <vt:lpstr>Economica</vt:lpstr>
      <vt:lpstr>Symbol</vt:lpstr>
      <vt:lpstr>Times New Roman</vt:lpstr>
      <vt:lpstr>Wingdings</vt:lpstr>
      <vt:lpstr>Luxe</vt:lpstr>
      <vt:lpstr>PowerPoint Presentation</vt:lpstr>
      <vt:lpstr>Дослідження</vt:lpstr>
      <vt:lpstr>Огляд літератури та підходів</vt:lpstr>
      <vt:lpstr>Постановка задачі</vt:lpstr>
      <vt:lpstr>Методологія дослідження</vt:lpstr>
      <vt:lpstr>Опис програмного забезпечення</vt:lpstr>
      <vt:lpstr>Зміст проведеного експерименту</vt:lpstr>
      <vt:lpstr>Результати експерименту</vt:lpstr>
      <vt:lpstr>Аналіз отриманих результатів</vt:lpstr>
      <vt:lpstr>Висновки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Алексей Радионов</dc:creator>
  <cp:lastModifiedBy>Олег Савін</cp:lastModifiedBy>
  <cp:revision>7</cp:revision>
  <dcterms:modified xsi:type="dcterms:W3CDTF">2026-05-17T09:39:06Z</dcterms:modified>
</cp:coreProperties>
</file>

<file path=docProps/core0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Наталія Русакова</dc:creator>
  <dc:description/>
  <dc:language>en-US</dc:language>
  <cp:lastModifiedBy>Наталія Русакова</cp:lastModifiedBy>
  <dcterms:modified xsi:type="dcterms:W3CDTF">2024-09-30T09:44:09Z</dcterms:modified>
  <cp:revision>1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12</vt:r8>
  </property>
  <property fmtid="{D5CDD505-2E9C-101B-9397-08002B2CF9AE}" pid="3" name="PresentationFormat">
    <vt:lpwstr>Екран (16:9)</vt:lpwstr>
  </property>
  <property fmtid="{D5CDD505-2E9C-101B-9397-08002B2CF9AE}" pid="4" name="Slides">
    <vt:r8>12</vt:r8>
  </property>
</Properties>
</file>