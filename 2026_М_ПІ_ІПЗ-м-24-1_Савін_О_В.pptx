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ore0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7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F1</c:v>
                </c:pt>
              </c:strCache>
            </c:strRef>
          </c:tx>
          <c:spPr>
            <a:solidFill>
              <a:srgbClr val="007E9B"/>
            </a:solidFill>
            <a:ln>
              <a:solidFill>
                <a:srgbClr val="007E9B"/>
              </a:solidFill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LSTM
Small</c:v>
                </c:pt>
                <c:pt idx="1">
                  <c:v>LSTM
Base</c:v>
                </c:pt>
                <c:pt idx="2">
                  <c:v>BiLSTM</c:v>
                </c:pt>
                <c:pt idx="3">
                  <c:v>Distil
BERT</c:v>
                </c:pt>
                <c:pt idx="4">
                  <c:v>BERT</c:v>
                </c:pt>
                <c:pt idx="5">
                  <c:v>RoBERTa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0.89559999999999995</c:v>
                </c:pt>
                <c:pt idx="1">
                  <c:v>0.89659999999999995</c:v>
                </c:pt>
                <c:pt idx="2">
                  <c:v>0.90359999999999996</c:v>
                </c:pt>
                <c:pt idx="3">
                  <c:v>0.88590000000000002</c:v>
                </c:pt>
                <c:pt idx="4">
                  <c:v>0.752</c:v>
                </c:pt>
                <c:pt idx="5">
                  <c:v>0.3422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7E9B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327-4BEF-B558-676FF82A4B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CE975F"/>
            </a:solidFill>
            <a:ln>
              <a:solidFill>
                <a:srgbClr val="CE975F"/>
              </a:solidFill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LSTM
Small</c:v>
                </c:pt>
                <c:pt idx="1">
                  <c:v>LSTM
Base</c:v>
                </c:pt>
                <c:pt idx="2">
                  <c:v>BiLSTM</c:v>
                </c:pt>
                <c:pt idx="3">
                  <c:v>Distil
BERT</c:v>
                </c:pt>
                <c:pt idx="4">
                  <c:v>BERT</c:v>
                </c:pt>
                <c:pt idx="5">
                  <c:v>RoBERTa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0.88590000000000002</c:v>
                </c:pt>
                <c:pt idx="1">
                  <c:v>0.89670000000000005</c:v>
                </c:pt>
                <c:pt idx="2">
                  <c:v>0.90359999999999996</c:v>
                </c:pt>
                <c:pt idx="3">
                  <c:v>0.88549999999999995</c:v>
                </c:pt>
                <c:pt idx="4">
                  <c:v>0.75249999999999995</c:v>
                </c:pt>
                <c:pt idx="5">
                  <c:v>0.46450000000000002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CE975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A327-4BEF-B558-676FF82A4B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;p2"/>
          <p:cNvSpPr/>
          <p:nvPr/>
        </p:nvSpPr>
        <p:spPr>
          <a:xfrm>
            <a:off x="2743920" y="756720"/>
            <a:ext cx="1081440" cy="1124640"/>
          </a:xfrm>
          <a:custGeom>
            <a:avLst/>
            <a:gdLst>
              <a:gd name="textAreaLeft" fmla="*/ 0 w 1081440"/>
              <a:gd name="textAreaRight" fmla="*/ 1081800 w 1081440"/>
              <a:gd name="textAreaTop" fmla="*/ 0 h 1124640"/>
              <a:gd name="textAreaBottom" fmla="*/ 1125000 h 1124640"/>
            </a:gdLst>
            <a:ahLst/>
            <a:cxnLst/>
            <a:rect l="textAreaLeft" t="textAreaTop" r="textAreaRight" b="textAreaBottom"/>
            <a:pathLst>
              <a:path w="43265" h="44998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>
            <a:solidFill>
              <a:srgbClr val="CCA67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Google Shape;11;p2"/>
          <p:cNvSpPr/>
          <p:nvPr/>
        </p:nvSpPr>
        <p:spPr>
          <a:xfrm rot="10800000">
            <a:off x="5318640" y="3267000"/>
            <a:ext cx="1081440" cy="1124640"/>
          </a:xfrm>
          <a:custGeom>
            <a:avLst/>
            <a:gdLst>
              <a:gd name="textAreaLeft" fmla="*/ 0 w 1081440"/>
              <a:gd name="textAreaRight" fmla="*/ 1081800 w 1081440"/>
              <a:gd name="textAreaTop" fmla="*/ 0 h 1124640"/>
              <a:gd name="textAreaBottom" fmla="*/ 1125000 h 1124640"/>
            </a:gdLst>
            <a:ahLst/>
            <a:cxnLst/>
            <a:rect l="textAreaLeft" t="textAreaTop" r="textAreaRight" b="textAreaBottom"/>
            <a:pathLst>
              <a:path w="43265" h="44998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>
            <a:solidFill>
              <a:srgbClr val="CCA67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044880" y="1444320"/>
            <a:ext cx="3054240" cy="1536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19999"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DBFEC52-0BDA-4754-903B-F9E01C315D29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2;p11"/>
          <p:cNvSpPr/>
          <p:nvPr/>
        </p:nvSpPr>
        <p:spPr>
          <a:xfrm>
            <a:off x="0" y="5045760"/>
            <a:ext cx="9143640" cy="97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8960" bIns="489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11760" y="957240"/>
            <a:ext cx="8520120" cy="212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2500" lnSpcReduction="19999"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16000" b="0" u="none" strike="noStrike">
                <a:solidFill>
                  <a:schemeClr val="lt2"/>
                </a:solidFill>
                <a:effectLst/>
                <a:uFillTx/>
                <a:latin typeface="Economica"/>
                <a:ea typeface="Economica"/>
              </a:rPr>
              <a:t>xx%</a:t>
            </a:r>
            <a:endParaRPr lang="en-US" sz="1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11760" y="3161880"/>
            <a:ext cx="8520120" cy="1071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156FEE2-0C31-4C31-B90C-6944171DAEB9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021F92C-BB9A-4A11-9870-2DDF7C18D1A2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6;p3"/>
          <p:cNvSpPr/>
          <p:nvPr/>
        </p:nvSpPr>
        <p:spPr>
          <a:xfrm flipH="1">
            <a:off x="7596000" y="460080"/>
            <a:ext cx="1081440" cy="1124640"/>
          </a:xfrm>
          <a:custGeom>
            <a:avLst/>
            <a:gdLst>
              <a:gd name="textAreaLeft" fmla="*/ 360 w 1081440"/>
              <a:gd name="textAreaRight" fmla="*/ 1082160 w 1081440"/>
              <a:gd name="textAreaTop" fmla="*/ 0 h 1124640"/>
              <a:gd name="textAreaBottom" fmla="*/ 1125000 h 1124640"/>
            </a:gdLst>
            <a:ahLst/>
            <a:cxnLst/>
            <a:rect l="textAreaLeft" t="textAreaTop" r="textAreaRight" b="textAreaBottom"/>
            <a:pathLst>
              <a:path w="43265" h="44998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>
            <a:solidFill>
              <a:srgbClr val="CCA67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Google Shape;17;p3"/>
          <p:cNvSpPr/>
          <p:nvPr/>
        </p:nvSpPr>
        <p:spPr>
          <a:xfrm rot="10800000" flipH="1">
            <a:off x="466560" y="3558600"/>
            <a:ext cx="1081440" cy="1124640"/>
          </a:xfrm>
          <a:custGeom>
            <a:avLst/>
            <a:gdLst>
              <a:gd name="textAreaLeft" fmla="*/ 360 w 1081440"/>
              <a:gd name="textAreaRight" fmla="*/ 1082160 w 1081440"/>
              <a:gd name="textAreaTop" fmla="*/ 0 h 1124640"/>
              <a:gd name="textAreaBottom" fmla="*/ 1125000 h 1124640"/>
            </a:gdLst>
            <a:ahLst/>
            <a:cxnLst/>
            <a:rect l="textAreaLeft" t="textAreaTop" r="textAreaRight" b="textAreaBottom"/>
            <a:pathLst>
              <a:path w="43265" h="44998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>
            <a:solidFill>
              <a:srgbClr val="CCA67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73640" y="1806480"/>
            <a:ext cx="7596360" cy="153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6406778-45E0-48BE-B3E6-87BD7C4213DF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1;p4"/>
          <p:cNvSpPr/>
          <p:nvPr/>
        </p:nvSpPr>
        <p:spPr>
          <a:xfrm>
            <a:off x="0" y="5045760"/>
            <a:ext cx="9143640" cy="97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8960" bIns="489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316080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11760" y="1225080"/>
            <a:ext cx="8520120" cy="335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0404340-8B64-472D-85ED-5229A9FD4FE2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316080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11760" y="1225080"/>
            <a:ext cx="3999600" cy="335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832280" y="1225080"/>
            <a:ext cx="3999600" cy="335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FC04902-7318-472C-9160-A22290337D2A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316080"/>
            <a:ext cx="8520120" cy="830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D34C0E5-924D-44A5-8DBB-1AE215992F73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77500" lnSpcReduction="19999"/>
          </a:bodyPr>
          <a:lstStyle/>
          <a:p>
            <a:pPr indent="0">
              <a:buNone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11760" y="1399320"/>
            <a:ext cx="2807640" cy="2784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9ABCE3B-02EA-4C36-B922-77CE1F16BC05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38;p8"/>
          <p:cNvSpPr/>
          <p:nvPr/>
        </p:nvSpPr>
        <p:spPr>
          <a:xfrm>
            <a:off x="0" y="5045760"/>
            <a:ext cx="9143640" cy="97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8960" bIns="489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587844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buNone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B588CD2-2EBE-4F33-B6CA-F15CC3DB9334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42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cxnSp>
        <p:nvCxnSpPr>
          <p:cNvPr id="31" name="Google Shape;43;p9"/>
          <p:cNvCxnSpPr/>
          <p:nvPr/>
        </p:nvCxnSpPr>
        <p:spPr>
          <a:xfrm>
            <a:off x="5029560" y="4495320"/>
            <a:ext cx="468720" cy="36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65680" y="929160"/>
            <a:ext cx="4044960" cy="1785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939560" y="72432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lt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096F841-93AF-4525-85F8-7D08D27F5BD8}" type="slidenum">
              <a:rPr lang="uk" sz="1000" b="0" u="none" strike="noStrike">
                <a:solidFill>
                  <a:schemeClr val="lt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body"/>
          </p:nvPr>
        </p:nvSpPr>
        <p:spPr>
          <a:xfrm>
            <a:off x="319680" y="4218840"/>
            <a:ext cx="5998320" cy="59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876F035-A353-47F8-9761-178C36C435D3}" type="slidenum">
              <a:rPr lang="uk" sz="1000" b="0" u="none" strike="noStrike">
                <a:solidFill>
                  <a:schemeClr val="dk1"/>
                </a:solidFill>
                <a:effectLst/>
                <a:uFillTx/>
                <a:latin typeface="Economica"/>
                <a:ea typeface="Economica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64;p13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Google Shape;65;p13"/>
          <p:cNvPicPr/>
          <p:nvPr/>
        </p:nvPicPr>
        <p:blipFill>
          <a:blip r:embed="rId3"/>
          <a:stretch/>
        </p:blipFill>
        <p:spPr>
          <a:xfrm>
            <a:off x="204840" y="171000"/>
            <a:ext cx="2133720" cy="38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Google Shape;66;p13"/>
          <p:cNvPicPr/>
          <p:nvPr/>
        </p:nvPicPr>
        <p:blipFill>
          <a:blip r:embed="rId4"/>
          <a:stretch/>
        </p:blipFill>
        <p:spPr>
          <a:xfrm>
            <a:off x="7068600" y="171000"/>
            <a:ext cx="1924560" cy="43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Box 41"/>
          <p:cNvSpPr txBox="1"/>
          <p:nvPr/>
        </p:nvSpPr>
        <p:spPr>
          <a:xfrm>
            <a:off x="2880360" y="868680"/>
            <a:ext cx="5303520" cy="1600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>
                <a:solidFill>
                  <a:srgbClr val="000000"/>
                </a:solidFill>
                <a:latin typeface="Arial"/>
              </a:rPr>
              <a:t>Дослідження методів</a:t>
            </a:r>
          </a:p>
          <a:p>
            <a:pPr algn="l">
              <a:lnSpc>
                <a:spcPct val="105000"/>
              </a:lnSpc>
            </a:pPr>
            <a:r>
              <a:rPr sz="2500" b="0">
                <a:solidFill>
                  <a:srgbClr val="000000"/>
                </a:solidFill>
                <a:latin typeface="Arial"/>
              </a:rPr>
              <a:t>семантичного аналізу тексту:</a:t>
            </a:r>
          </a:p>
          <a:p>
            <a:pPr algn="l">
              <a:lnSpc>
                <a:spcPct val="105000"/>
              </a:lnSpc>
            </a:pPr>
            <a:r>
              <a:rPr sz="2500" b="0">
                <a:solidFill>
                  <a:srgbClr val="000000"/>
                </a:solidFill>
                <a:latin typeface="Arial"/>
              </a:rPr>
              <a:t>порівняльний аналіз моделей</a:t>
            </a:r>
          </a:p>
          <a:p>
            <a:pPr algn="l">
              <a:lnSpc>
                <a:spcPct val="105000"/>
              </a:lnSpc>
            </a:pPr>
            <a:r>
              <a:rPr sz="2500" b="0">
                <a:solidFill>
                  <a:srgbClr val="000000"/>
                </a:solidFill>
                <a:latin typeface="Arial"/>
              </a:rPr>
              <a:t>LSTM та трансформерів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77508" y="3644858"/>
            <a:ext cx="5165109" cy="12187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uk-UA" sz="1800" b="0" noProof="1" smtClean="0">
                <a:solidFill>
                  <a:srgbClr val="000000"/>
                </a:solidFill>
                <a:latin typeface="Arial"/>
              </a:rPr>
              <a:t>Савін Олег Валентинович, ІПЗм-24-1</a:t>
            </a:r>
          </a:p>
          <a:p>
            <a:pPr>
              <a:lnSpc>
                <a:spcPct val="105000"/>
              </a:lnSpc>
            </a:pPr>
            <a:r>
              <a:rPr lang="uk-UA" sz="1800" b="0" noProof="1" smtClean="0">
                <a:solidFill>
                  <a:srgbClr val="000000"/>
                </a:solidFill>
                <a:latin typeface="Arial"/>
              </a:rPr>
              <a:t>Науковий керівник: </a:t>
            </a:r>
            <a:r>
              <a:rPr lang="uk-UA" noProof="1" smtClean="0">
                <a:solidFill>
                  <a:srgbClr val="000000"/>
                </a:solidFill>
                <a:latin typeface="Arial"/>
              </a:rPr>
              <a:t>доц</a:t>
            </a:r>
            <a:r>
              <a:rPr lang="uk-UA" sz="1800" b="0" noProof="1" smtClean="0">
                <a:solidFill>
                  <a:srgbClr val="000000"/>
                </a:solidFill>
                <a:latin typeface="Arial"/>
              </a:rPr>
              <a:t>. каф. ПІ</a:t>
            </a:r>
          </a:p>
          <a:p>
            <a:pPr>
              <a:lnSpc>
                <a:spcPct val="105000"/>
              </a:lnSpc>
            </a:pPr>
            <a:r>
              <a:rPr lang="uk-UA" smtClean="0"/>
              <a:t>Афанасьєва </a:t>
            </a:r>
            <a:r>
              <a:rPr lang="uk-UA" dirty="0"/>
              <a:t>І.В</a:t>
            </a:r>
            <a:r>
              <a:rPr lang="uk-UA" dirty="0" smtClean="0"/>
              <a:t>.</a:t>
            </a:r>
          </a:p>
          <a:p>
            <a:pPr>
              <a:lnSpc>
                <a:spcPct val="105000"/>
              </a:lnSpc>
            </a:pPr>
            <a:r>
              <a:rPr lang="uk-UA" sz="1800" b="0" noProof="1" smtClean="0">
                <a:solidFill>
                  <a:srgbClr val="000000"/>
                </a:solidFill>
                <a:latin typeface="Arial"/>
              </a:rPr>
              <a:t>2026 р.</a:t>
            </a:r>
            <a:endParaRPr lang="uk-UA" sz="1800" b="0" noProof="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84048" y="274320"/>
            <a:ext cx="841248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algn="l"/>
            <a:r>
              <a:rPr sz="3800" dirty="0" err="1">
                <a:solidFill>
                  <a:srgbClr val="000000"/>
                </a:solidFill>
                <a:latin typeface="Arial"/>
              </a:rPr>
              <a:t>Дослідження</a:t>
            </a:r>
            <a:endParaRPr sz="38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Google Shape;73;p14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Box 44"/>
          <p:cNvSpPr txBox="1"/>
          <p:nvPr/>
        </p:nvSpPr>
        <p:spPr>
          <a:xfrm>
            <a:off x="8732520" y="4617720"/>
            <a:ext cx="29260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1143000"/>
            <a:ext cx="2743554" cy="1417320"/>
          </a:xfrm>
          <a:prstGeom prst="roundRect">
            <a:avLst/>
          </a:prstGeom>
          <a:solidFill>
            <a:srgbClr val="F5E7D8"/>
          </a:solidFill>
          <a:ln w="15240">
            <a:solidFill>
              <a:srgbClr val="CE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bIns="54864" rtlCol="0" anchor="ctr"/>
          <a:lstStyle/>
          <a:p>
            <a:pPr algn="ctr"/>
            <a:r>
              <a:rPr lang="uk-UA" sz="1600" b="1" noProof="1" smtClean="0">
                <a:solidFill>
                  <a:srgbClr val="005D78"/>
                </a:solidFill>
                <a:latin typeface="Arial"/>
              </a:rPr>
              <a:t>Актуальність</a:t>
            </a:r>
          </a:p>
          <a:p>
            <a:pPr algn="ctr">
              <a:lnSpc>
                <a:spcPct val="105000"/>
              </a:lnSpc>
            </a:pPr>
            <a:r>
              <a:rPr lang="uk-UA" sz="1400" noProof="1" smtClean="0">
                <a:solidFill>
                  <a:srgbClr val="000000"/>
                </a:solidFill>
                <a:latin typeface="Arial"/>
              </a:rPr>
              <a:t>Семантичний аналіз потрібний для пошуку, аналітики, класифікації новин, модерації та автоматизованих рішень.</a:t>
            </a:r>
            <a:endParaRPr lang="uk-UA" sz="1400" noProof="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3337560" y="1143000"/>
            <a:ext cx="2743554" cy="141732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CE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bIns="54864" rtlCol="0" anchor="ctr"/>
          <a:lstStyle/>
          <a:p>
            <a:pPr algn="ctr"/>
            <a:r>
              <a:rPr lang="en-US" sz="1600" b="1" noProof="1" smtClean="0">
                <a:solidFill>
                  <a:srgbClr val="005D78"/>
                </a:solidFill>
                <a:latin typeface="Arial"/>
              </a:rPr>
              <a:t>Проблема</a:t>
            </a:r>
          </a:p>
          <a:p>
            <a:pPr algn="ctr">
              <a:lnSpc>
                <a:spcPct val="105000"/>
              </a:lnSpc>
            </a:pPr>
            <a:r>
              <a:rPr lang="en-US" sz="1400" noProof="1" smtClean="0">
                <a:solidFill>
                  <a:srgbClr val="000000"/>
                </a:solidFill>
                <a:latin typeface="Arial"/>
              </a:rPr>
              <a:t>LSTM та трансформери дають різний баланс між якістю, швидкістю, пам’яттю та складністю навчання.</a:t>
            </a:r>
            <a:endParaRPr lang="en-US" sz="1400" noProof="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172200" y="1143000"/>
            <a:ext cx="2743554" cy="1417320"/>
          </a:xfrm>
          <a:prstGeom prst="roundRect">
            <a:avLst/>
          </a:prstGeom>
          <a:solidFill>
            <a:srgbClr val="F5E7D8"/>
          </a:solidFill>
          <a:ln w="15240">
            <a:solidFill>
              <a:srgbClr val="CE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bIns="54864" rtlCol="0" anchor="ctr"/>
          <a:lstStyle/>
          <a:p>
            <a:pPr algn="ctr"/>
            <a:r>
              <a:rPr lang="uk-UA" sz="1600" b="1" noProof="1" smtClean="0">
                <a:solidFill>
                  <a:srgbClr val="005D78"/>
                </a:solidFill>
                <a:latin typeface="Arial"/>
              </a:rPr>
              <a:t>Мета</a:t>
            </a:r>
          </a:p>
          <a:p>
            <a:pPr algn="ctr">
              <a:lnSpc>
                <a:spcPct val="105000"/>
              </a:lnSpc>
            </a:pPr>
            <a:r>
              <a:rPr lang="uk-UA" sz="1400" noProof="1" smtClean="0">
                <a:solidFill>
                  <a:srgbClr val="000000"/>
                </a:solidFill>
                <a:latin typeface="Arial"/>
              </a:rPr>
              <a:t>Порівняти шість моделей за єдиним протоколом і сформувати рекомендації щодо вибору архітектури.</a:t>
            </a:r>
            <a:endParaRPr lang="uk-UA" sz="1400" noProof="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94359" y="3017520"/>
            <a:ext cx="3956376" cy="413252"/>
          </a:xfrm>
          <a:prstGeom prst="roundRect">
            <a:avLst/>
          </a:prstGeom>
          <a:solidFill>
            <a:srgbClr val="007E9B"/>
          </a:solidFill>
          <a:ln>
            <a:solidFill>
              <a:srgbClr val="00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300" b="1" noProof="1" smtClean="0">
                <a:solidFill>
                  <a:srgbClr val="FFFFFF"/>
                </a:solidFill>
                <a:latin typeface="Arial"/>
              </a:rPr>
              <a:t>Об’єкт – процес семантичної класифікації тексту</a:t>
            </a:r>
            <a:endParaRPr lang="uk-UA" sz="1300" b="1" noProof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594360" y="3566160"/>
            <a:ext cx="6858000" cy="365760"/>
          </a:xfrm>
          <a:prstGeom prst="roundRect">
            <a:avLst/>
          </a:prstGeom>
          <a:solidFill>
            <a:srgbClr val="CE975F"/>
          </a:solidFill>
          <a:ln>
            <a:solidFill>
              <a:srgbClr val="CE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Предмет – LSTM-Small, LSTM-Base, BiLSTM-Base, DistilBERT, BERT, RoBERTa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84048" y="274320"/>
            <a:ext cx="841248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l"/>
            <a:r>
              <a:rPr sz="2800">
                <a:solidFill>
                  <a:srgbClr val="000000"/>
                </a:solidFill>
                <a:latin typeface="Arial"/>
              </a:rPr>
              <a:t>Огляд літератури та підходів</a:t>
            </a:r>
          </a:p>
        </p:txBody>
      </p:sp>
      <p:pic>
        <p:nvPicPr>
          <p:cNvPr id="48" name="Google Shape;80;p15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Box 48"/>
          <p:cNvSpPr txBox="1"/>
          <p:nvPr/>
        </p:nvSpPr>
        <p:spPr>
          <a:xfrm>
            <a:off x="8732520" y="4617720"/>
            <a:ext cx="29260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1143000"/>
            <a:ext cx="2468880" cy="182880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CE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bIns="54864" rtlCol="0" anchor="ctr"/>
          <a:lstStyle/>
          <a:p>
            <a:pPr algn="ctr"/>
            <a:r>
              <a:rPr lang="uk-UA" sz="1600" b="1" noProof="1" smtClean="0">
                <a:solidFill>
                  <a:srgbClr val="005D78"/>
                </a:solidFill>
                <a:latin typeface="Arial"/>
              </a:rPr>
              <a:t>LSTM / BiLSTM</a:t>
            </a:r>
          </a:p>
          <a:p>
            <a:pPr>
              <a:lnSpc>
                <a:spcPct val="105000"/>
              </a:lnSpc>
            </a:pPr>
            <a:r>
              <a:rPr lang="uk-UA" sz="1400" noProof="1" smtClean="0">
                <a:solidFill>
                  <a:srgbClr val="000000"/>
                </a:solidFill>
                <a:latin typeface="Arial"/>
              </a:rPr>
              <a:t>Гейти пам’яті зберігають релевантний контекст і зменшують проблему затухання градієнта. BiLSTM враховує контекст у двох напрямах.</a:t>
            </a:r>
            <a:endParaRPr lang="uk-UA" sz="1400" noProof="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337560" y="1143000"/>
            <a:ext cx="2468880" cy="1828800"/>
          </a:xfrm>
          <a:prstGeom prst="roundRect">
            <a:avLst/>
          </a:prstGeom>
          <a:solidFill>
            <a:srgbClr val="F5E7D8"/>
          </a:solidFill>
          <a:ln w="15240">
            <a:solidFill>
              <a:srgbClr val="CE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bIns="54864" rtlCol="0" anchor="ctr"/>
          <a:lstStyle/>
          <a:p>
            <a:pPr algn="ctr"/>
            <a:r>
              <a:rPr lang="uk-UA" sz="1600" b="1" noProof="1" smtClean="0">
                <a:solidFill>
                  <a:srgbClr val="005D78"/>
                </a:solidFill>
                <a:latin typeface="Arial"/>
              </a:rPr>
              <a:t>Трансформери</a:t>
            </a:r>
          </a:p>
          <a:p>
            <a:pPr>
              <a:lnSpc>
                <a:spcPct val="105000"/>
              </a:lnSpc>
            </a:pPr>
            <a:r>
              <a:rPr lang="uk-UA" sz="1400" noProof="1" smtClean="0">
                <a:solidFill>
                  <a:srgbClr val="000000"/>
                </a:solidFill>
                <a:latin typeface="Arial"/>
              </a:rPr>
              <a:t>Self-attention моделює зв’язки між усіма токенами одночасно. Перевага – глобальний контекст і паралельне навчання.</a:t>
            </a:r>
            <a:endParaRPr lang="uk-UA" sz="1400" noProof="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126480" y="1143000"/>
            <a:ext cx="2468880" cy="182880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CE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bIns="54864" rtlCol="0" anchor="ctr"/>
          <a:lstStyle/>
          <a:p>
            <a:pPr algn="ctr"/>
            <a:r>
              <a:rPr lang="uk-UA" sz="1600" b="1" noProof="1" smtClean="0">
                <a:solidFill>
                  <a:srgbClr val="005D78"/>
                </a:solidFill>
                <a:latin typeface="Arial"/>
              </a:rPr>
              <a:t>Python-екосистема</a:t>
            </a:r>
          </a:p>
          <a:p>
            <a:pPr>
              <a:lnSpc>
                <a:spcPct val="105000"/>
              </a:lnSpc>
            </a:pPr>
            <a:r>
              <a:rPr lang="uk-UA" sz="1400" noProof="1" smtClean="0">
                <a:solidFill>
                  <a:srgbClr val="000000"/>
                </a:solidFill>
                <a:latin typeface="Arial"/>
              </a:rPr>
              <a:t>spaCy, NLTK, Gensim, Hugging Face Transformers, AllenNLP та fastText дають готові інструменти для NLP-досліджень.</a:t>
            </a:r>
            <a:endParaRPr lang="uk-UA" sz="1400" noProof="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1783080" y="3200400"/>
            <a:ext cx="2743200" cy="0"/>
          </a:xfrm>
          <a:prstGeom prst="line">
            <a:avLst/>
          </a:prstGeom>
          <a:ln w="17780">
            <a:solidFill>
              <a:srgbClr val="CE9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26280" y="3200400"/>
            <a:ext cx="2743200" cy="0"/>
          </a:xfrm>
          <a:prstGeom prst="line">
            <a:avLst/>
          </a:prstGeom>
          <a:ln w="17780">
            <a:solidFill>
              <a:srgbClr val="CE9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658368" y="3520440"/>
            <a:ext cx="1353312" cy="329184"/>
          </a:xfrm>
          <a:prstGeom prst="roundRect">
            <a:avLst/>
          </a:prstGeom>
          <a:solidFill>
            <a:srgbClr val="007E9B"/>
          </a:solidFill>
          <a:ln>
            <a:solidFill>
              <a:srgbClr val="00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300" b="1" noProof="1" smtClean="0">
                <a:solidFill>
                  <a:srgbClr val="FFFFFF"/>
                </a:solidFill>
                <a:latin typeface="Arial"/>
              </a:rPr>
              <a:t>векторизація</a:t>
            </a:r>
            <a:endParaRPr lang="uk-UA" sz="1300" b="1" noProof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2240280" y="3520440"/>
            <a:ext cx="1234440" cy="329184"/>
          </a:xfrm>
          <a:prstGeom prst="roundRect">
            <a:avLst/>
          </a:prstGeom>
          <a:solidFill>
            <a:srgbClr val="007E9B"/>
          </a:solidFill>
          <a:ln>
            <a:solidFill>
              <a:srgbClr val="00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токенізація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03320" y="3520440"/>
            <a:ext cx="1234440" cy="329184"/>
          </a:xfrm>
          <a:prstGeom prst="roundRect">
            <a:avLst/>
          </a:prstGeom>
          <a:solidFill>
            <a:srgbClr val="007E9B"/>
          </a:solidFill>
          <a:ln>
            <a:solidFill>
              <a:srgbClr val="00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навчання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166360" y="3520440"/>
            <a:ext cx="1234440" cy="329184"/>
          </a:xfrm>
          <a:prstGeom prst="roundRect">
            <a:avLst/>
          </a:prstGeom>
          <a:solidFill>
            <a:srgbClr val="007E9B"/>
          </a:solidFill>
          <a:ln>
            <a:solidFill>
              <a:srgbClr val="00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оцінювання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629400" y="3520440"/>
            <a:ext cx="1325880" cy="329184"/>
          </a:xfrm>
          <a:prstGeom prst="roundRect">
            <a:avLst/>
          </a:prstGeom>
          <a:solidFill>
            <a:srgbClr val="007E9B"/>
          </a:solidFill>
          <a:ln>
            <a:solidFill>
              <a:srgbClr val="00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рекомендації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84048" y="274320"/>
            <a:ext cx="841248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l"/>
            <a:r>
              <a:rPr sz="3100">
                <a:solidFill>
                  <a:srgbClr val="000000"/>
                </a:solidFill>
                <a:latin typeface="Arial"/>
              </a:rPr>
              <a:t>Постановка задачі</a:t>
            </a:r>
          </a:p>
        </p:txBody>
      </p:sp>
      <p:pic>
        <p:nvPicPr>
          <p:cNvPr id="52" name="Google Shape;87;p16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Box 52"/>
          <p:cNvSpPr txBox="1"/>
          <p:nvPr/>
        </p:nvSpPr>
        <p:spPr>
          <a:xfrm>
            <a:off x="8732520" y="4617720"/>
            <a:ext cx="29260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987552"/>
            <a:ext cx="80924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40" b="0">
                <a:solidFill>
                  <a:srgbClr val="282828"/>
                </a:solidFill>
                <a:latin typeface="Arial"/>
              </a:rPr>
              <a:t>Задача – провести повний цикл дослідження від аналізу предметної галузі до розробки програмного інструменту та формування висновків щодо вибору моделі.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1481328"/>
            <a:ext cx="53492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 bIns="64008"/>
          <a:lstStyle/>
          <a:p>
            <a:pPr algn="ctr">
              <a:spcAft>
                <a:spcPts val="400"/>
              </a:spcAft>
            </a:pPr>
            <a:r>
              <a:rPr sz="1460" b="1">
                <a:solidFill>
                  <a:srgbClr val="197E91"/>
                </a:solidFill>
                <a:latin typeface="Arial"/>
              </a:rPr>
              <a:t>У межах роботи необхідно: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60">
                <a:solidFill>
                  <a:srgbClr val="282828"/>
                </a:solidFill>
                <a:latin typeface="Arial"/>
              </a:defRPr>
            </a:pPr>
            <a:r>
              <a:t>провести аналіз задач семантичної класифікації тексту;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60">
                <a:solidFill>
                  <a:srgbClr val="282828"/>
                </a:solidFill>
                <a:latin typeface="Arial"/>
              </a:defRPr>
            </a:pPr>
            <a:r>
              <a:t>зробити аналіз підходів LSTM, BiLSTM і трансформерів;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60">
                <a:solidFill>
                  <a:srgbClr val="282828"/>
                </a:solidFill>
                <a:latin typeface="Arial"/>
              </a:defRPr>
            </a:pPr>
            <a:r>
              <a:t>підготувати датасет AG News та єдиний протокол експерименту;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60">
                <a:solidFill>
                  <a:srgbClr val="282828"/>
                </a:solidFill>
                <a:latin typeface="Arial"/>
              </a:defRPr>
            </a:pPr>
            <a:r>
              <a:t>розробити програмну реалізацію навчання і тестування шести моделей;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60">
                <a:solidFill>
                  <a:srgbClr val="282828"/>
                </a:solidFill>
                <a:latin typeface="Arial"/>
              </a:defRPr>
            </a:pPr>
            <a:r>
              <a:t>провести експеримент і порівняти результати за метриками якості та витратами;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60">
                <a:solidFill>
                  <a:srgbClr val="282828"/>
                </a:solidFill>
                <a:latin typeface="Arial"/>
              </a:defRPr>
            </a:pPr>
            <a:r>
              <a:t>сформувати рекомендації щодо вибору архітектури для прикладної системи.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1481328"/>
            <a:ext cx="2176272" cy="1307592"/>
          </a:xfrm>
          <a:prstGeom prst="roundRect">
            <a:avLst/>
          </a:prstGeom>
          <a:solidFill>
            <a:srgbClr val="F8F0E7"/>
          </a:solidFill>
          <a:ln w="12700">
            <a:solidFill>
              <a:srgbClr val="CD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 bIns="36576"/>
          <a:lstStyle/>
          <a:p>
            <a:pPr algn="ctr"/>
            <a:r>
              <a:rPr sz="1360" b="1">
                <a:solidFill>
                  <a:srgbClr val="197E91"/>
                </a:solidFill>
                <a:latin typeface="Arial"/>
              </a:rPr>
              <a:t>Моделі</a:t>
            </a:r>
          </a:p>
          <a:p>
            <a:pPr algn="ctr">
              <a:spcAft>
                <a:spcPts val="100"/>
              </a:spcAft>
            </a:pPr>
            <a:r>
              <a:rPr sz="1160">
                <a:solidFill>
                  <a:srgbClr val="282828"/>
                </a:solidFill>
                <a:latin typeface="Arial"/>
              </a:rPr>
              <a:t>LSTM-Small, LSTM-Base</a:t>
            </a:r>
          </a:p>
          <a:p>
            <a:pPr algn="ctr">
              <a:spcAft>
                <a:spcPts val="100"/>
              </a:spcAft>
            </a:pPr>
            <a:r>
              <a:rPr sz="1160">
                <a:solidFill>
                  <a:srgbClr val="282828"/>
                </a:solidFill>
                <a:latin typeface="Arial"/>
              </a:rPr>
              <a:t>BiLSTM-Base</a:t>
            </a:r>
          </a:p>
          <a:p>
            <a:pPr algn="ctr">
              <a:spcAft>
                <a:spcPts val="100"/>
              </a:spcAft>
            </a:pPr>
            <a:r>
              <a:rPr sz="1160">
                <a:solidFill>
                  <a:srgbClr val="282828"/>
                </a:solidFill>
                <a:latin typeface="Arial"/>
              </a:rPr>
              <a:t>DistilBERT, BERT</a:t>
            </a:r>
          </a:p>
          <a:p>
            <a:pPr algn="ctr">
              <a:spcAft>
                <a:spcPts val="100"/>
              </a:spcAft>
            </a:pPr>
            <a:r>
              <a:rPr sz="1160">
                <a:solidFill>
                  <a:srgbClr val="282828"/>
                </a:solidFill>
                <a:latin typeface="Arial"/>
              </a:rPr>
              <a:t>RoBERTa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72200" y="2916936"/>
            <a:ext cx="2176272" cy="960120"/>
          </a:xfrm>
          <a:prstGeom prst="roundRect">
            <a:avLst/>
          </a:prstGeom>
          <a:solidFill>
            <a:srgbClr val="F8F0E7"/>
          </a:solidFill>
          <a:ln w="12700">
            <a:solidFill>
              <a:srgbClr val="CD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 bIns="36576"/>
          <a:lstStyle/>
          <a:p>
            <a:pPr algn="ctr"/>
            <a:r>
              <a:rPr sz="1350" b="1">
                <a:solidFill>
                  <a:srgbClr val="197E91"/>
                </a:solidFill>
                <a:latin typeface="Arial"/>
              </a:rPr>
              <a:t>Критерії</a:t>
            </a:r>
          </a:p>
          <a:p>
            <a:pPr algn="ctr">
              <a:spcAft>
                <a:spcPts val="100"/>
              </a:spcAft>
            </a:pPr>
            <a:r>
              <a:rPr sz="1150">
                <a:solidFill>
                  <a:srgbClr val="282828"/>
                </a:solidFill>
                <a:latin typeface="Arial"/>
              </a:rPr>
              <a:t>Accuracy, Precision, Recall</a:t>
            </a:r>
          </a:p>
          <a:p>
            <a:pPr algn="ctr">
              <a:spcAft>
                <a:spcPts val="100"/>
              </a:spcAft>
            </a:pPr>
            <a:r>
              <a:rPr sz="1150">
                <a:solidFill>
                  <a:srgbClr val="282828"/>
                </a:solidFill>
                <a:latin typeface="Arial"/>
              </a:rPr>
              <a:t>F1, час навчання</a:t>
            </a:r>
          </a:p>
          <a:p>
            <a:pPr algn="ctr">
              <a:spcAft>
                <a:spcPts val="100"/>
              </a:spcAft>
            </a:pPr>
            <a:r>
              <a:rPr sz="1150">
                <a:solidFill>
                  <a:srgbClr val="282828"/>
                </a:solidFill>
                <a:latin typeface="Arial"/>
              </a:rPr>
              <a:t>кількість параметрів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3968496"/>
            <a:ext cx="72237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220" b="1">
                <a:solidFill>
                  <a:srgbClr val="282828"/>
                </a:solidFill>
                <a:latin typeface="Arial"/>
              </a:rPr>
              <a:t>Очікуваний результат – визначити модель з найкращим співвідношенням якості класифікації та обчислювальних витрат.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84048" y="274320"/>
            <a:ext cx="841248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l"/>
            <a:r>
              <a:rPr sz="3100">
                <a:solidFill>
                  <a:srgbClr val="000000"/>
                </a:solidFill>
                <a:latin typeface="Arial"/>
              </a:rPr>
              <a:t>Методологія дослідження</a:t>
            </a:r>
          </a:p>
        </p:txBody>
      </p:sp>
      <p:pic>
        <p:nvPicPr>
          <p:cNvPr id="56" name="Google Shape;94;p17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Box 56"/>
          <p:cNvSpPr txBox="1"/>
          <p:nvPr/>
        </p:nvSpPr>
        <p:spPr>
          <a:xfrm>
            <a:off x="8732520" y="4617720"/>
            <a:ext cx="29260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828800" y="2331720"/>
            <a:ext cx="274320" cy="0"/>
          </a:xfrm>
          <a:prstGeom prst="line">
            <a:avLst/>
          </a:prstGeom>
          <a:ln w="25400">
            <a:solidFill>
              <a:srgbClr val="CE9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474720" y="2331720"/>
            <a:ext cx="274320" cy="0"/>
          </a:xfrm>
          <a:prstGeom prst="line">
            <a:avLst/>
          </a:prstGeom>
          <a:ln w="25400">
            <a:solidFill>
              <a:srgbClr val="CE9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120640" y="2331720"/>
            <a:ext cx="274320" cy="0"/>
          </a:xfrm>
          <a:prstGeom prst="line">
            <a:avLst/>
          </a:prstGeom>
          <a:ln w="25400">
            <a:solidFill>
              <a:srgbClr val="CE9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766560" y="2331720"/>
            <a:ext cx="274320" cy="0"/>
          </a:xfrm>
          <a:prstGeom prst="line">
            <a:avLst/>
          </a:prstGeom>
          <a:ln w="25400">
            <a:solidFill>
              <a:srgbClr val="CE9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502920" y="1691640"/>
            <a:ext cx="13258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bIns="54864" rtlCol="0" anchor="ctr"/>
          <a:lstStyle/>
          <a:p>
            <a:pPr algn="ctr"/>
            <a:r>
              <a:rPr sz="1500" b="1" dirty="0" err="1">
                <a:solidFill>
                  <a:srgbClr val="005D78"/>
                </a:solidFill>
                <a:latin typeface="Arial"/>
              </a:rPr>
              <a:t>Дані</a:t>
            </a:r>
            <a:endParaRPr sz="1500" b="1" dirty="0">
              <a:solidFill>
                <a:srgbClr val="005D78"/>
              </a:solidFill>
              <a:latin typeface="Arial"/>
            </a:endParaRPr>
          </a:p>
          <a:p>
            <a:pPr algn="ctr"/>
            <a:r>
              <a:rPr sz="1300" dirty="0">
                <a:solidFill>
                  <a:srgbClr val="000000"/>
                </a:solidFill>
                <a:latin typeface="Arial"/>
              </a:rPr>
              <a:t>AG News</a:t>
            </a:r>
            <a:r>
              <a:rPr dirty="0"/>
              <a:t/>
            </a:r>
            <a:br>
              <a:rPr dirty="0"/>
            </a:br>
            <a:r>
              <a:rPr sz="1300" dirty="0">
                <a:solidFill>
                  <a:srgbClr val="000000"/>
                </a:solidFill>
                <a:latin typeface="Arial"/>
              </a:rPr>
              <a:t>4 </a:t>
            </a:r>
            <a:r>
              <a:rPr sz="1300" dirty="0" err="1">
                <a:solidFill>
                  <a:srgbClr val="000000"/>
                </a:solidFill>
                <a:latin typeface="Arial"/>
              </a:rPr>
              <a:t>класи</a:t>
            </a:r>
            <a:endParaRPr sz="13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2148840" y="1691640"/>
            <a:ext cx="1430788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bIns="54864" rtlCol="0" anchor="ctr"/>
          <a:lstStyle/>
          <a:p>
            <a:pPr algn="ctr"/>
            <a:r>
              <a:rPr sz="1500" b="1" dirty="0" err="1">
                <a:solidFill>
                  <a:srgbClr val="005D78"/>
                </a:solidFill>
                <a:latin typeface="Arial"/>
              </a:rPr>
              <a:t>Підготовка</a:t>
            </a:r>
            <a:endParaRPr sz="1500" b="1" dirty="0">
              <a:solidFill>
                <a:srgbClr val="005D78"/>
              </a:solidFill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lang="uk-UA" sz="1300" dirty="0" smtClean="0">
                <a:solidFill>
                  <a:srgbClr val="000000"/>
                </a:solidFill>
                <a:latin typeface="Arial"/>
              </a:rPr>
              <a:t>О</a:t>
            </a:r>
            <a:r>
              <a:rPr sz="1300" dirty="0" err="1" smtClean="0">
                <a:solidFill>
                  <a:srgbClr val="000000"/>
                </a:solidFill>
                <a:latin typeface="Arial"/>
              </a:rPr>
              <a:t>чищення</a:t>
            </a:r>
            <a:r>
              <a:rPr dirty="0"/>
              <a:t/>
            </a:r>
            <a:br>
              <a:rPr dirty="0"/>
            </a:br>
            <a:r>
              <a:rPr lang="uk-UA" sz="1300" dirty="0">
                <a:solidFill>
                  <a:srgbClr val="000000"/>
                </a:solidFill>
                <a:latin typeface="Arial"/>
              </a:rPr>
              <a:t>Т</a:t>
            </a:r>
            <a:r>
              <a:rPr sz="1300" dirty="0" err="1" smtClean="0">
                <a:solidFill>
                  <a:srgbClr val="000000"/>
                </a:solidFill>
                <a:latin typeface="Arial"/>
              </a:rPr>
              <a:t>окенізація</a:t>
            </a:r>
            <a:endParaRPr sz="13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3794760" y="1691640"/>
            <a:ext cx="13258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bIns="54864" rtlCol="0" anchor="ctr"/>
          <a:lstStyle/>
          <a:p>
            <a:pPr algn="ctr"/>
            <a:r>
              <a:rPr sz="1500" b="1" dirty="0" err="1">
                <a:solidFill>
                  <a:srgbClr val="005D78"/>
                </a:solidFill>
                <a:latin typeface="Arial"/>
              </a:rPr>
              <a:t>Моделі</a:t>
            </a:r>
            <a:endParaRPr sz="1500" b="1" dirty="0">
              <a:solidFill>
                <a:srgbClr val="005D78"/>
              </a:solidFill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sz="1300" dirty="0" smtClean="0">
                <a:solidFill>
                  <a:srgbClr val="000000"/>
                </a:solidFill>
                <a:latin typeface="Arial"/>
              </a:rPr>
              <a:t>LSTM</a:t>
            </a:r>
            <a:r>
              <a:rPr dirty="0"/>
              <a:t/>
            </a:r>
            <a:br>
              <a:rPr dirty="0"/>
            </a:br>
            <a:r>
              <a:rPr sz="13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sz="1300" dirty="0">
                <a:solidFill>
                  <a:srgbClr val="000000"/>
                </a:solidFill>
                <a:latin typeface="Arial"/>
              </a:rPr>
              <a:t>Transformer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40680" y="1691640"/>
            <a:ext cx="13258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bIns="54864" rtlCol="0" anchor="ctr"/>
          <a:lstStyle/>
          <a:p>
            <a:pPr algn="ctr"/>
            <a:r>
              <a:rPr sz="1500" b="1" dirty="0" err="1">
                <a:solidFill>
                  <a:srgbClr val="005D78"/>
                </a:solidFill>
                <a:latin typeface="Arial"/>
              </a:rPr>
              <a:t>Оцінка</a:t>
            </a:r>
            <a:endParaRPr sz="1500" b="1" dirty="0">
              <a:solidFill>
                <a:srgbClr val="005D78"/>
              </a:solidFill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sz="1300" dirty="0">
                <a:solidFill>
                  <a:srgbClr val="000000"/>
                </a:solidFill>
                <a:latin typeface="Arial"/>
              </a:rPr>
              <a:t>F1, Accuracy</a:t>
            </a:r>
            <a:r>
              <a:rPr dirty="0"/>
              <a:t/>
            </a:r>
            <a:br>
              <a:rPr dirty="0"/>
            </a:br>
            <a:r>
              <a:rPr sz="1300" dirty="0" err="1">
                <a:solidFill>
                  <a:srgbClr val="000000"/>
                </a:solidFill>
                <a:latin typeface="Arial"/>
              </a:rPr>
              <a:t>час</a:t>
            </a:r>
            <a:r>
              <a:rPr sz="1300" dirty="0">
                <a:solidFill>
                  <a:srgbClr val="000000"/>
                </a:solidFill>
                <a:latin typeface="Arial"/>
              </a:rPr>
              <a:t>, </a:t>
            </a:r>
            <a:r>
              <a:rPr sz="1300" dirty="0" err="1">
                <a:solidFill>
                  <a:srgbClr val="000000"/>
                </a:solidFill>
                <a:latin typeface="Arial"/>
              </a:rPr>
              <a:t>параметри</a:t>
            </a:r>
            <a:endParaRPr sz="13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7086600" y="1691640"/>
            <a:ext cx="13258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bIns="54864" rtlCol="0" anchor="ctr"/>
          <a:lstStyle/>
          <a:p>
            <a:pPr algn="ctr"/>
            <a:r>
              <a:rPr sz="1500" b="1" dirty="0" err="1" smtClean="0">
                <a:solidFill>
                  <a:srgbClr val="005D78"/>
                </a:solidFill>
                <a:latin typeface="Arial"/>
              </a:rPr>
              <a:t>Висновки</a:t>
            </a:r>
            <a:endParaRPr sz="1500" b="1" dirty="0">
              <a:solidFill>
                <a:srgbClr val="005D78"/>
              </a:solidFill>
              <a:latin typeface="Arial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85800" y="3337560"/>
            <a:ext cx="7498079" cy="60478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uk-UA" sz="1700" b="0" noProof="1" smtClean="0">
                <a:solidFill>
                  <a:srgbClr val="000000"/>
                </a:solidFill>
                <a:latin typeface="Arial"/>
              </a:rPr>
              <a:t>однаковий датасет, однаковий поділ на train / valid / test, однаковий набір метрик і однакова логіка збереження результатів.</a:t>
            </a:r>
            <a:endParaRPr lang="uk-UA" sz="1700" b="0" noProof="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84048" y="274320"/>
            <a:ext cx="841248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algn="l"/>
            <a:r>
              <a:rPr sz="2900">
                <a:solidFill>
                  <a:srgbClr val="000000"/>
                </a:solidFill>
                <a:latin typeface="Arial"/>
              </a:rPr>
              <a:t>Опис програмного забезпечення</a:t>
            </a:r>
          </a:p>
        </p:txBody>
      </p:sp>
      <p:pic>
        <p:nvPicPr>
          <p:cNvPr id="64" name="Google Shape;108;p19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Box 64"/>
          <p:cNvSpPr txBox="1"/>
          <p:nvPr/>
        </p:nvSpPr>
        <p:spPr>
          <a:xfrm>
            <a:off x="8732520" y="4617720"/>
            <a:ext cx="29260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360" y="1143000"/>
            <a:ext cx="2331720" cy="150876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CE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bIns="54864" rtlCol="0" anchor="ctr"/>
          <a:lstStyle/>
          <a:p>
            <a:pPr algn="ctr"/>
            <a:r>
              <a:rPr sz="1600" b="1">
                <a:solidFill>
                  <a:srgbClr val="005D78"/>
                </a:solidFill>
                <a:latin typeface="Arial"/>
              </a:rPr>
              <a:t>Вхідні дані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000000"/>
                </a:solidFill>
                <a:latin typeface="Arial"/>
              </a:rPr>
              <a:t>AG News у форматі CSV: колонки text та label, окремі файли для навчання, валідації та тестування.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383280" y="1143000"/>
            <a:ext cx="2331720" cy="1508760"/>
          </a:xfrm>
          <a:prstGeom prst="roundRect">
            <a:avLst/>
          </a:prstGeom>
          <a:solidFill>
            <a:srgbClr val="F5E7D8"/>
          </a:solidFill>
          <a:ln w="15240">
            <a:solidFill>
              <a:srgbClr val="CE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bIns="54864" rtlCol="0" anchor="ctr"/>
          <a:lstStyle/>
          <a:p>
            <a:pPr algn="ctr"/>
            <a:r>
              <a:rPr sz="1600" b="1">
                <a:solidFill>
                  <a:srgbClr val="005D78"/>
                </a:solidFill>
                <a:latin typeface="Arial"/>
              </a:rPr>
              <a:t>Навчання моделей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000000"/>
                </a:solidFill>
                <a:latin typeface="Arial"/>
              </a:rPr>
              <a:t>Окремі конфігурації для LSTM-Small, LSTM-Base, BiLSTM-Base, DistilBERT, BERT і RoBERTa.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72200" y="1143000"/>
            <a:ext cx="2331720" cy="150876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CE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bIns="54864" rtlCol="0" anchor="ctr"/>
          <a:lstStyle/>
          <a:p>
            <a:pPr algn="ctr"/>
            <a:r>
              <a:rPr sz="1600" b="1">
                <a:solidFill>
                  <a:srgbClr val="005D78"/>
                </a:solidFill>
                <a:latin typeface="Arial"/>
              </a:rPr>
              <a:t>Tkinter-інтерфейс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000000"/>
                </a:solidFill>
                <a:latin typeface="Arial"/>
              </a:rPr>
              <a:t>Запуск навчання, порівняння шести моделей, перегляд метрик і перевірка прогнозу на довільному тексті.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5800" y="3063240"/>
            <a:ext cx="3977639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bIns="54864" rtlCol="0" anchor="ctr"/>
          <a:lstStyle/>
          <a:p>
            <a:pPr algn="ctr"/>
            <a:r>
              <a:rPr sz="1500" b="1">
                <a:solidFill>
                  <a:srgbClr val="005D78"/>
                </a:solidFill>
                <a:latin typeface="Arial"/>
              </a:rPr>
              <a:t>Основна логіка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000000"/>
                </a:solidFill>
                <a:latin typeface="Arial"/>
              </a:rPr>
              <a:t>єдина функція підготовки тексту</a:t>
            </a:r>
            <a:r>
              <a:t/>
            </a:r>
            <a:br/>
            <a:r>
              <a:rPr sz="1300">
                <a:solidFill>
                  <a:srgbClr val="000000"/>
                </a:solidFill>
                <a:latin typeface="Arial"/>
              </a:rPr>
              <a:t>окремий запуск кожної моделі</a:t>
            </a:r>
            <a:r>
              <a:t/>
            </a:r>
            <a:br/>
            <a:r>
              <a:rPr sz="1300">
                <a:solidFill>
                  <a:srgbClr val="000000"/>
                </a:solidFill>
                <a:latin typeface="Arial"/>
              </a:rPr>
              <a:t>збереження результатів після навчання</a:t>
            </a:r>
            <a:r>
              <a:t/>
            </a:r>
            <a:br/>
            <a:r>
              <a:rPr sz="1300">
                <a:solidFill>
                  <a:srgbClr val="000000"/>
                </a:solidFill>
                <a:latin typeface="Arial"/>
              </a:rPr>
              <a:t>табличне порівняння якості та часу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74920" y="3063240"/>
            <a:ext cx="32461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bIns="54864" rtlCol="0" anchor="ctr"/>
          <a:lstStyle/>
          <a:p>
            <a:pPr algn="ctr"/>
            <a:r>
              <a:rPr sz="1500" b="1">
                <a:solidFill>
                  <a:srgbClr val="005D78"/>
                </a:solidFill>
                <a:latin typeface="Arial"/>
              </a:rPr>
              <a:t>Результат роботи ПЗ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000000"/>
                </a:solidFill>
                <a:latin typeface="Arial"/>
              </a:rPr>
              <a:t>набір метрик для кожної моделі та практичний інструмент демонстрації семантичної класифікації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84048" y="274320"/>
            <a:ext cx="841248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l"/>
            <a:r>
              <a:rPr sz="2500">
                <a:solidFill>
                  <a:srgbClr val="000000"/>
                </a:solidFill>
                <a:latin typeface="Arial"/>
              </a:rPr>
              <a:t>Зміст проведеного експерименту</a:t>
            </a:r>
          </a:p>
        </p:txBody>
      </p:sp>
      <p:pic>
        <p:nvPicPr>
          <p:cNvPr id="68" name="Google Shape;115;p20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Box 68"/>
          <p:cNvSpPr txBox="1"/>
          <p:nvPr/>
        </p:nvSpPr>
        <p:spPr>
          <a:xfrm>
            <a:off x="8732520" y="4617720"/>
            <a:ext cx="29260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2920" y="1097280"/>
            <a:ext cx="1965960" cy="1143000"/>
          </a:xfrm>
          <a:prstGeom prst="roundRect">
            <a:avLst/>
          </a:prstGeom>
          <a:solidFill>
            <a:srgbClr val="F5E7D8"/>
          </a:solidFill>
          <a:ln w="15240">
            <a:solidFill>
              <a:srgbClr val="CE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bIns="54864" rtlCol="0" anchor="ctr"/>
          <a:lstStyle/>
          <a:p>
            <a:pPr algn="ctr"/>
            <a:r>
              <a:rPr sz="1600" b="1" dirty="0" err="1">
                <a:solidFill>
                  <a:srgbClr val="005D78"/>
                </a:solidFill>
                <a:latin typeface="Arial"/>
              </a:rPr>
              <a:t>Датасет</a:t>
            </a:r>
            <a:endParaRPr sz="1600" b="1" dirty="0">
              <a:solidFill>
                <a:srgbClr val="005D78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sz="1300" b="1" dirty="0">
                <a:solidFill>
                  <a:srgbClr val="000000"/>
                </a:solidFill>
                <a:latin typeface="Arial"/>
              </a:rPr>
              <a:t>AG News</a:t>
            </a:r>
            <a:r>
              <a:rPr dirty="0"/>
              <a:t/>
            </a:r>
            <a:br>
              <a:rPr dirty="0"/>
            </a:br>
            <a:r>
              <a:rPr sz="1300" dirty="0">
                <a:solidFill>
                  <a:srgbClr val="000000"/>
                </a:solidFill>
                <a:latin typeface="Arial"/>
              </a:rPr>
              <a:t>World, Sports, Business, </a:t>
            </a:r>
            <a:r>
              <a:rPr sz="1300" dirty="0" err="1">
                <a:solidFill>
                  <a:srgbClr val="000000"/>
                </a:solidFill>
                <a:latin typeface="Arial"/>
              </a:rPr>
              <a:t>Sci</a:t>
            </a:r>
            <a:r>
              <a:rPr sz="1300" dirty="0">
                <a:solidFill>
                  <a:srgbClr val="000000"/>
                </a:solidFill>
                <a:latin typeface="Arial"/>
              </a:rPr>
              <a:t>/Tech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514600"/>
            <a:ext cx="1965960" cy="141732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CE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bIns="54864" rtlCol="0" anchor="ctr"/>
          <a:lstStyle/>
          <a:p>
            <a:pPr algn="ctr"/>
            <a:r>
              <a:rPr sz="1600" b="1">
                <a:solidFill>
                  <a:srgbClr val="005D78"/>
                </a:solidFill>
                <a:latin typeface="Arial"/>
              </a:rPr>
              <a:t>Вимірювання</a:t>
            </a:r>
          </a:p>
          <a:p>
            <a:pPr>
              <a:lnSpc>
                <a:spcPct val="105000"/>
              </a:lnSpc>
            </a:pPr>
            <a:r>
              <a:rPr sz="1300">
                <a:solidFill>
                  <a:srgbClr val="000000"/>
                </a:solidFill>
                <a:latin typeface="Arial"/>
              </a:rPr>
              <a:t>Validation F1</a:t>
            </a:r>
            <a:r>
              <a:t/>
            </a:r>
            <a:br/>
            <a:r>
              <a:rPr sz="1300">
                <a:solidFill>
                  <a:srgbClr val="000000"/>
                </a:solidFill>
                <a:latin typeface="Arial"/>
              </a:rPr>
              <a:t>Test F1</a:t>
            </a:r>
            <a:r>
              <a:t/>
            </a:r>
            <a:br/>
            <a:r>
              <a:rPr sz="1300">
                <a:solidFill>
                  <a:srgbClr val="000000"/>
                </a:solidFill>
                <a:latin typeface="Arial"/>
              </a:rPr>
              <a:t>Accuracy</a:t>
            </a:r>
            <a:r>
              <a:t/>
            </a:r>
            <a:br/>
            <a:r>
              <a:rPr sz="1300">
                <a:solidFill>
                  <a:srgbClr val="000000"/>
                </a:solidFill>
                <a:latin typeface="Arial"/>
              </a:rPr>
              <a:t>Training time</a:t>
            </a:r>
            <a:r>
              <a:t/>
            </a:r>
            <a:br/>
            <a:r>
              <a:rPr sz="1300">
                <a:solidFill>
                  <a:srgbClr val="000000"/>
                </a:solidFill>
                <a:latin typeface="Arial"/>
              </a:rPr>
              <a:t>Parameters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71800" y="1024128"/>
            <a:ext cx="34747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005D78"/>
                </a:solidFill>
                <a:latin typeface="Arial"/>
              </a:rPr>
              <a:t>Порівнювані моделі</a:t>
            </a:r>
          </a:p>
        </p:txBody>
      </p: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2834640" y="1417320"/>
          <a:ext cx="50749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Група</a:t>
                      </a:r>
                    </a:p>
                  </a:txBody>
                  <a:tcPr marL="27432" marR="27432" marT="27432" marB="27432">
                    <a:solidFill>
                      <a:srgbClr val="005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Модель</a:t>
                      </a:r>
                    </a:p>
                  </a:txBody>
                  <a:tcPr marL="27432" marR="27432" marT="27432" marB="27432">
                    <a:solidFill>
                      <a:srgbClr val="005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Роль</a:t>
                      </a:r>
                    </a:p>
                  </a:txBody>
                  <a:tcPr marL="27432" marR="27432" marT="27432" marB="27432">
                    <a:solidFill>
                      <a:srgbClr val="005D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00000"/>
                          </a:solidFill>
                          <a:latin typeface="Arial"/>
                        </a:rPr>
                        <a:t>LSTM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LSTM-Small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000000"/>
                          </a:solidFill>
                          <a:latin typeface="Arial"/>
                        </a:rPr>
                        <a:t>компактна</a:t>
                      </a:r>
                      <a:endParaRPr sz="10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7432" marR="27432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LSTM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LSTM-Base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базова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LSTM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BiLSTM-Base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000000"/>
                          </a:solidFill>
                          <a:latin typeface="Arial"/>
                        </a:rPr>
                        <a:t>двонапрямна</a:t>
                      </a:r>
                      <a:endParaRPr sz="10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27432" marR="27432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/>
        </p:nvGraphicFramePr>
        <p:xfrm>
          <a:off x="2834640" y="3063240"/>
          <a:ext cx="507492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Група</a:t>
                      </a:r>
                    </a:p>
                  </a:txBody>
                  <a:tcPr marL="27432" marR="27432" marT="27432" marB="27432">
                    <a:solidFill>
                      <a:srgbClr val="CE97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Модель</a:t>
                      </a:r>
                    </a:p>
                  </a:txBody>
                  <a:tcPr marL="27432" marR="27432" marT="27432" marB="27432">
                    <a:solidFill>
                      <a:srgbClr val="CE97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Роль</a:t>
                      </a:r>
                    </a:p>
                  </a:txBody>
                  <a:tcPr marL="27432" marR="27432" marT="27432" marB="27432">
                    <a:solidFill>
                      <a:srgbClr val="CE97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Transformer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DistilBERT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полегшена</a:t>
                      </a:r>
                    </a:p>
                  </a:txBody>
                  <a:tcPr marL="27432" marR="27432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Transformer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BERT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базова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Transformer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RoBERTa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модифікована</a:t>
                      </a:r>
                    </a:p>
                  </a:txBody>
                  <a:tcPr marL="27432" marR="27432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84048" y="274320"/>
            <a:ext cx="841248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l"/>
            <a:r>
              <a:rPr sz="3100">
                <a:solidFill>
                  <a:srgbClr val="000000"/>
                </a:solidFill>
                <a:latin typeface="Arial"/>
              </a:rPr>
              <a:t>Результати експерименту</a:t>
            </a:r>
          </a:p>
        </p:txBody>
      </p:sp>
      <p:pic>
        <p:nvPicPr>
          <p:cNvPr id="72" name="Google Shape;122;p21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Box 72"/>
          <p:cNvSpPr txBox="1"/>
          <p:nvPr/>
        </p:nvSpPr>
        <p:spPr>
          <a:xfrm>
            <a:off x="8732520" y="4617720"/>
            <a:ext cx="29260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graphicFrame>
        <p:nvGraphicFramePr>
          <p:cNvPr id="74" name="Chart 73"/>
          <p:cNvGraphicFramePr>
            <a:graphicFrameLocks noGrp="1"/>
          </p:cNvGraphicFramePr>
          <p:nvPr/>
        </p:nvGraphicFramePr>
        <p:xfrm>
          <a:off x="502920" y="1097280"/>
          <a:ext cx="37947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4526280" y="1143000"/>
          <a:ext cx="40690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Arial"/>
                        </a:rPr>
                        <a:t>Модель</a:t>
                      </a:r>
                    </a:p>
                  </a:txBody>
                  <a:tcPr marL="27432" marR="27432" marT="27432" marB="27432">
                    <a:solidFill>
                      <a:srgbClr val="005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Arial"/>
                        </a:rPr>
                        <a:t>Клас</a:t>
                      </a:r>
                    </a:p>
                  </a:txBody>
                  <a:tcPr marL="27432" marR="27432" marT="27432" marB="27432">
                    <a:solidFill>
                      <a:srgbClr val="005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Arial"/>
                        </a:rPr>
                        <a:t>Val F1</a:t>
                      </a:r>
                    </a:p>
                  </a:txBody>
                  <a:tcPr marL="27432" marR="27432" marT="27432" marB="27432">
                    <a:solidFill>
                      <a:srgbClr val="005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Arial"/>
                        </a:rPr>
                        <a:t>Test F1</a:t>
                      </a:r>
                    </a:p>
                  </a:txBody>
                  <a:tcPr marL="27432" marR="27432" marT="27432" marB="27432">
                    <a:solidFill>
                      <a:srgbClr val="005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27432" marR="27432" marT="27432" marB="27432">
                    <a:solidFill>
                      <a:srgbClr val="005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Arial"/>
                        </a:rPr>
                        <a:t>Час, с</a:t>
                      </a:r>
                    </a:p>
                  </a:txBody>
                  <a:tcPr marL="27432" marR="27432" marT="27432" marB="27432">
                    <a:solidFill>
                      <a:srgbClr val="005D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LSTM-Small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LSTM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0,8932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0,8956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0,8859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1181</a:t>
                      </a:r>
                    </a:p>
                  </a:txBody>
                  <a:tcPr marL="27432" marR="27432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LSTM-Base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LSTM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0,9039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0,8966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0,8967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1407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BiLSTM-Base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LSTM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0,9107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0,9036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0,9036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1834</a:t>
                      </a:r>
                    </a:p>
                  </a:txBody>
                  <a:tcPr marL="27432" marR="27432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DistilBERT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Transformer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0,8832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0,8859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0,8855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2430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BERT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Transformer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0,7523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0,7520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0,7525</a:t>
                      </a:r>
                    </a:p>
                  </a:txBody>
                  <a:tcPr marL="27432" marR="27432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5473</a:t>
                      </a:r>
                    </a:p>
                  </a:txBody>
                  <a:tcPr marL="27432" marR="27432" marT="27432" marB="274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70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RoBERTa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Transformer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0,3509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0,3422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0,4645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00000"/>
                          </a:solidFill>
                          <a:latin typeface="Arial"/>
                        </a:rPr>
                        <a:t>5913</a:t>
                      </a:r>
                    </a:p>
                  </a:txBody>
                  <a:tcPr marL="27432" marR="27432" marT="27432" marB="27432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6" name="Rounded Rectangle 75"/>
          <p:cNvSpPr/>
          <p:nvPr/>
        </p:nvSpPr>
        <p:spPr>
          <a:xfrm>
            <a:off x="731520" y="3889948"/>
            <a:ext cx="3495706" cy="435163"/>
          </a:xfrm>
          <a:prstGeom prst="roundRect">
            <a:avLst/>
          </a:prstGeom>
          <a:solidFill>
            <a:srgbClr val="007E9B"/>
          </a:solidFill>
          <a:ln>
            <a:solidFill>
              <a:srgbClr val="007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Найкращий Test F1 – BiLSTM-Base 0,9036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709159" y="3889948"/>
            <a:ext cx="3497955" cy="435163"/>
          </a:xfrm>
          <a:prstGeom prst="roundRect">
            <a:avLst/>
          </a:prstGeom>
          <a:solidFill>
            <a:srgbClr val="CE975F"/>
          </a:solidFill>
          <a:ln>
            <a:solidFill>
              <a:srgbClr val="CE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  <a:latin typeface="Arial"/>
              </a:rPr>
              <a:t>Найкращий</a:t>
            </a:r>
            <a:r>
              <a:rPr sz="13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Arial"/>
              </a:rPr>
              <a:t>трансформер</a:t>
            </a:r>
            <a:r>
              <a:rPr sz="1300" b="1" dirty="0">
                <a:solidFill>
                  <a:srgbClr val="FFFFFF"/>
                </a:solidFill>
                <a:latin typeface="Arial"/>
              </a:rPr>
              <a:t> – </a:t>
            </a:r>
            <a:r>
              <a:rPr sz="1300" b="1" dirty="0" err="1">
                <a:solidFill>
                  <a:srgbClr val="FFFFFF"/>
                </a:solidFill>
                <a:latin typeface="Arial"/>
              </a:rPr>
              <a:t>DistilBERT</a:t>
            </a:r>
            <a:r>
              <a:rPr sz="1300" b="1" dirty="0">
                <a:solidFill>
                  <a:srgbClr val="FFFFFF"/>
                </a:solidFill>
                <a:latin typeface="Arial"/>
              </a:rPr>
              <a:t> 0,8859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84048" y="274320"/>
            <a:ext cx="841248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l"/>
            <a:r>
              <a:rPr sz="2900">
                <a:solidFill>
                  <a:srgbClr val="000000"/>
                </a:solidFill>
                <a:latin typeface="Arial"/>
              </a:rPr>
              <a:t>Аналіз отриманих результатів</a:t>
            </a:r>
          </a:p>
        </p:txBody>
      </p:sp>
      <p:pic>
        <p:nvPicPr>
          <p:cNvPr id="76" name="Google Shape;129;p22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Box 76"/>
          <p:cNvSpPr txBox="1"/>
          <p:nvPr/>
        </p:nvSpPr>
        <p:spPr>
          <a:xfrm>
            <a:off x="8732520" y="4617720"/>
            <a:ext cx="29260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36711" y="2700668"/>
            <a:ext cx="3344306" cy="1548484"/>
          </a:xfrm>
          <a:prstGeom prst="roundRect">
            <a:avLst/>
          </a:prstGeom>
          <a:solidFill>
            <a:srgbClr val="F5E7D8"/>
          </a:solidFill>
          <a:ln w="15240">
            <a:solidFill>
              <a:srgbClr val="CE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bIns="54864" rtlCol="0" anchor="ctr"/>
          <a:lstStyle/>
          <a:p>
            <a:pPr algn="ctr"/>
            <a:r>
              <a:rPr lang="uk-UA" sz="1600" b="1" noProof="1" smtClean="0">
                <a:solidFill>
                  <a:srgbClr val="005D78"/>
                </a:solidFill>
                <a:latin typeface="Arial"/>
              </a:rPr>
              <a:t>Основне спостереження</a:t>
            </a:r>
          </a:p>
          <a:p>
            <a:pPr>
              <a:lnSpc>
                <a:spcPct val="105000"/>
              </a:lnSpc>
            </a:pPr>
            <a:r>
              <a:rPr lang="uk-UA" sz="1500" noProof="1" smtClean="0">
                <a:solidFill>
                  <a:srgbClr val="000000"/>
                </a:solidFill>
                <a:latin typeface="Arial"/>
              </a:rPr>
              <a:t>У цьому експерименті LSTM-група показала стабільніші результати за F1, а BiLSTM-Base стала найкращою моделлю.</a:t>
            </a:r>
            <a:endParaRPr lang="uk-UA" sz="1500" noProof="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017" y="977549"/>
            <a:ext cx="5411449" cy="29204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84048" y="274320"/>
            <a:ext cx="841248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r>
              <a:t>Висновки</a:t>
            </a:r>
          </a:p>
        </p:txBody>
      </p:sp>
      <p:pic>
        <p:nvPicPr>
          <p:cNvPr id="84" name="Google Shape;143;p24"/>
          <p:cNvPicPr/>
          <p:nvPr/>
        </p:nvPicPr>
        <p:blipFill>
          <a:blip r:embed="rId2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Box 84"/>
          <p:cNvSpPr txBox="1"/>
          <p:nvPr/>
        </p:nvSpPr>
        <p:spPr>
          <a:xfrm>
            <a:off x="8732520" y="4617720"/>
            <a:ext cx="29260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49808" y="1051560"/>
            <a:ext cx="7479792" cy="3054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128016" bIns="91440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197E91"/>
                </a:solidFill>
                <a:latin typeface="Arial"/>
              </a:rPr>
              <a:t>За результатами виконаної роботи: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320">
                <a:solidFill>
                  <a:srgbClr val="282828"/>
                </a:solidFill>
                <a:latin typeface="Arial"/>
              </a:rPr>
              <a:t>проведено аналіз задач семантичного аналізу та вимог до класифікації тексту;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320">
                <a:solidFill>
                  <a:srgbClr val="282828"/>
                </a:solidFill>
                <a:latin typeface="Arial"/>
              </a:rPr>
              <a:t>зроблено аналіз архітектур LSTM, BiLSTM і трансформерних моделей;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320">
                <a:solidFill>
                  <a:srgbClr val="282828"/>
                </a:solidFill>
                <a:latin typeface="Arial"/>
              </a:rPr>
              <a:t>розроблено програмну реалізацію навчання, тестування та порівняння шести моделей;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320">
                <a:solidFill>
                  <a:srgbClr val="282828"/>
                </a:solidFill>
                <a:latin typeface="Arial"/>
              </a:rPr>
              <a:t>проведено експеримент на датасеті AG News за єдиним протоколом;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320">
                <a:solidFill>
                  <a:srgbClr val="282828"/>
                </a:solidFill>
                <a:latin typeface="Arial"/>
              </a:rPr>
              <a:t>отримано й порівняно значення Accuracy, Precision, Recall, F1, часу навчання та кількості параметрів;</a:t>
            </a:r>
          </a:p>
          <a:p>
            <a:pPr>
              <a:lnSpc>
                <a:spcPct val="104000"/>
              </a:lnSpc>
              <a:spcAft>
                <a:spcPts val="200"/>
              </a:spcAft>
            </a:pPr>
            <a:r>
              <a:rPr sz="1320">
                <a:solidFill>
                  <a:srgbClr val="282828"/>
                </a:solidFill>
                <a:latin typeface="Arial"/>
              </a:rPr>
              <a:t>визначено, що у заданому протоколі найкраще співвідношення якості та витрат показала BiLSTM-Base.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999232" y="4261104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50" b="1">
                <a:solidFill>
                  <a:srgbClr val="197E91"/>
                </a:solidFill>
                <a:latin typeface="Arial"/>
              </a:rPr>
              <a:t>Дякую за увагу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459</Words>
  <Application>Microsoft Office PowerPoint</Application>
  <PresentationFormat>Экран (16:9)</PresentationFormat>
  <Paragraphs>150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Economica</vt:lpstr>
      <vt:lpstr>Symbol</vt:lpstr>
      <vt:lpstr>Times New Roman</vt:lpstr>
      <vt:lpstr>Wingdings</vt:lpstr>
      <vt:lpstr>Luxe</vt:lpstr>
      <vt:lpstr>Презентация PowerPoint</vt:lpstr>
      <vt:lpstr>Дослідження</vt:lpstr>
      <vt:lpstr>Огляд літератури та підходів</vt:lpstr>
      <vt:lpstr>Постановка задачі</vt:lpstr>
      <vt:lpstr>Методологія дослідження</vt:lpstr>
      <vt:lpstr>Опис програмного забезпечення</vt:lpstr>
      <vt:lpstr>Зміст проведеного експерименту</vt:lpstr>
      <vt:lpstr>Результати експерименту</vt:lpstr>
      <vt:lpstr>Аналіз отриманих результатів</vt:lpstr>
      <vt:lpstr>Підсумки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Алексей Радионов</dc:creator>
  <cp:lastModifiedBy>Алексей Радионов</cp:lastModifiedBy>
  <cp:revision>6</cp:revision>
  <dcterms:modified xsi:type="dcterms:W3CDTF">2026-05-12T13:54:48Z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Наталія Русакова</dc:creator>
  <dc:description/>
  <dc:language>en-US</dc:language>
  <cp:lastModifiedBy>Наталія Русакова</cp:lastModifiedBy>
  <dcterms:modified xsi:type="dcterms:W3CDTF">2024-09-30T09:44:09Z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12</vt:r8>
  </property>
  <property fmtid="{D5CDD505-2E9C-101B-9397-08002B2CF9AE}" pid="3" name="PresentationFormat">
    <vt:lpwstr>Екран (16:9)</vt:lpwstr>
  </property>
  <property fmtid="{D5CDD505-2E9C-101B-9397-08002B2CF9AE}" pid="4" name="Slides">
    <vt:r8>12</vt:r8>
  </property>
</Properties>
</file>